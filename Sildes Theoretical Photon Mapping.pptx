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  <p:sldMasterId id="2147483667" r:id="rId2"/>
  </p:sldMasterIdLst>
  <p:notesMasterIdLst>
    <p:notesMasterId r:id="rId36"/>
  </p:notesMasterIdLst>
  <p:handoutMasterIdLst>
    <p:handoutMasterId r:id="rId37"/>
  </p:handoutMasterIdLst>
  <p:sldIdLst>
    <p:sldId id="256" r:id="rId3"/>
    <p:sldId id="257" r:id="rId4"/>
    <p:sldId id="260" r:id="rId5"/>
    <p:sldId id="258" r:id="rId6"/>
    <p:sldId id="261" r:id="rId7"/>
    <p:sldId id="262" r:id="rId8"/>
    <p:sldId id="263" r:id="rId9"/>
    <p:sldId id="289" r:id="rId10"/>
    <p:sldId id="287" r:id="rId11"/>
    <p:sldId id="288" r:id="rId12"/>
    <p:sldId id="265" r:id="rId13"/>
    <p:sldId id="284" r:id="rId14"/>
    <p:sldId id="278" r:id="rId15"/>
    <p:sldId id="266" r:id="rId16"/>
    <p:sldId id="267" r:id="rId17"/>
    <p:sldId id="268" r:id="rId18"/>
    <p:sldId id="279" r:id="rId19"/>
    <p:sldId id="269" r:id="rId20"/>
    <p:sldId id="286" r:id="rId21"/>
    <p:sldId id="282" r:id="rId22"/>
    <p:sldId id="273" r:id="rId23"/>
    <p:sldId id="264" r:id="rId24"/>
    <p:sldId id="274" r:id="rId25"/>
    <p:sldId id="280" r:id="rId26"/>
    <p:sldId id="281" r:id="rId27"/>
    <p:sldId id="276" r:id="rId28"/>
    <p:sldId id="277" r:id="rId29"/>
    <p:sldId id="272" r:id="rId30"/>
    <p:sldId id="275" r:id="rId31"/>
    <p:sldId id="283" r:id="rId32"/>
    <p:sldId id="285" r:id="rId33"/>
    <p:sldId id="270" r:id="rId34"/>
    <p:sldId id="271" r:id="rId35"/>
  </p:sldIdLst>
  <p:sldSz cx="9144000" cy="5143500" type="screen16x9"/>
  <p:notesSz cx="6797675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F091C77-2323-F705-E756-CBE3CF8E4540}" name="Evert Buzon Badillo" initials="EBB" userId="Evert Buzon Badill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0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113" d="100"/>
          <a:sy n="113" d="100"/>
        </p:scale>
        <p:origin x="614" y="9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microsoft.com/office/2018/10/relationships/authors" Target="author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Prozessmanagement mit Visio 2010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4A163-5547-49A6-8BEF-6004EC1DC74A}" type="datetime1">
              <a:rPr lang="de-DE" smtClean="0"/>
              <a:t>13.10.2022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0EEC04-0E85-445E-B4EE-F7965B789B45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96685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de-DE"/>
              <a:t>Prozessmanagement mit Visio 2010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916332-E7E2-46B0-9652-072EF62B0967}" type="datetime1">
              <a:rPr lang="de-DE" smtClean="0"/>
              <a:t>13.10.2022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C01E9F-B71F-4D58-90E1-E17EF002E4B3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1182241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2A037006-0DE1-461E-A149-232C3705AD12}" type="datetime1">
              <a:rPr lang="de-DE" smtClean="0"/>
              <a:t>13.10.2022</a:t>
            </a:fld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C01E9F-B71F-4D58-90E1-E17EF002E4B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6962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bg>
      <p:bgPr>
        <a:gradFill>
          <a:gsLst>
            <a:gs pos="0">
              <a:schemeClr val="bg1"/>
            </a:gs>
            <a:gs pos="100000">
              <a:schemeClr val="bg1">
                <a:lumMod val="75000"/>
                <a:alpha val="89000"/>
              </a:schemeClr>
            </a:gs>
          </a:gsLst>
          <a:lin ang="606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 bwMode="auto">
          <a:xfrm>
            <a:off x="0" y="0"/>
            <a:ext cx="9144000" cy="897564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p:pic>
        <p:nvPicPr>
          <p:cNvPr id="7" name="Bild 6" descr="Header_RGB50s_trans_ppt.eps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753"/>
          <a:stretch/>
        </p:blipFill>
        <p:spPr>
          <a:xfrm>
            <a:off x="236681" y="132483"/>
            <a:ext cx="1268269" cy="584555"/>
          </a:xfrm>
          <a:prstGeom prst="rect">
            <a:avLst/>
          </a:prstGeom>
        </p:spPr>
      </p:pic>
      <p:pic>
        <p:nvPicPr>
          <p:cNvPr id="9" name="Bild 8" descr="Siegel_25s.eps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141480"/>
            <a:ext cx="1184732" cy="1231909"/>
          </a:xfrm>
          <a:prstGeom prst="rect">
            <a:avLst/>
          </a:prstGeom>
        </p:spPr>
      </p:pic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676384" y="1923678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683568" y="1275606"/>
            <a:ext cx="6400800" cy="432048"/>
          </a:xfrm>
          <a:prstGeom prst="rect">
            <a:avLst/>
          </a:prstGeom>
        </p:spPr>
        <p:txBody>
          <a:bodyPr/>
          <a:lstStyle>
            <a:lvl1pPr marL="0" indent="0" algn="l" rtl="0" eaLnBrk="1" fontAlgn="base" hangingPunct="1">
              <a:spcBef>
                <a:spcPct val="0"/>
              </a:spcBef>
              <a:spcAft>
                <a:spcPct val="0"/>
              </a:spcAft>
              <a:buNone/>
              <a:defRPr lang="de-DE" sz="2000" dirty="0">
                <a:solidFill>
                  <a:srgbClr val="006C30"/>
                </a:solidFill>
                <a:latin typeface="+mn-lt"/>
                <a:ea typeface="MS PGothic" pitchFamily="34" charset="-128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Name des Vortragenden durch Klicken bearbeiten</a:t>
            </a:r>
          </a:p>
        </p:txBody>
      </p:sp>
      <p:sp>
        <p:nvSpPr>
          <p:cNvPr id="10" name="Untertitel 9"/>
          <p:cNvSpPr txBox="1">
            <a:spLocks/>
          </p:cNvSpPr>
          <p:nvPr userDrawn="1"/>
        </p:nvSpPr>
        <p:spPr>
          <a:xfrm>
            <a:off x="676384" y="3579862"/>
            <a:ext cx="7772400" cy="1552269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Font typeface="Wingdings" pitchFamily="2" charset="2"/>
              <a:defRPr sz="2400">
                <a:solidFill>
                  <a:srgbClr val="006C30"/>
                </a:solidFill>
                <a:latin typeface="Arial" pitchFamily="34" charset="0"/>
                <a:ea typeface="MS PGothic" pitchFamily="34" charset="-128"/>
                <a:cs typeface="Arial" pitchFamily="34" charset="0"/>
              </a:defRPr>
            </a:lvl1pPr>
            <a:lvl2pPr marL="742950" indent="-285750" algn="l" rtl="0" eaLnBrk="1" fontAlgn="base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Font typeface="Times" pitchFamily="18" charset="0"/>
              <a:buChar char="•"/>
              <a:defRPr sz="1600">
                <a:solidFill>
                  <a:srgbClr val="006C30"/>
                </a:solidFill>
                <a:latin typeface="Arial" pitchFamily="34" charset="0"/>
                <a:ea typeface="Arial" charset="0"/>
                <a:cs typeface="Arial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Font typeface="LMU CompatilFact" pitchFamily="2" charset="0"/>
              <a:buChar char="–"/>
              <a:defRPr sz="1600">
                <a:solidFill>
                  <a:srgbClr val="006C30"/>
                </a:solidFill>
                <a:latin typeface="Arial" pitchFamily="34" charset="0"/>
                <a:ea typeface="Arial" charset="0"/>
                <a:cs typeface="Arial" pitchFamily="34" charset="0"/>
              </a:defRPr>
            </a:lvl3pPr>
            <a:lvl4pPr marL="1562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6600"/>
              </a:buClr>
              <a:buChar char="-"/>
              <a:defRPr sz="1600">
                <a:solidFill>
                  <a:srgbClr val="006C30"/>
                </a:solidFill>
                <a:latin typeface="Arial" pitchFamily="34" charset="0"/>
                <a:ea typeface="Arial" charset="0"/>
                <a:cs typeface="Arial" pitchFamily="34" charset="0"/>
              </a:defRPr>
            </a:lvl4pPr>
            <a:lvl5pPr marL="1981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6C30"/>
                </a:solidFill>
                <a:latin typeface="Arial" pitchFamily="34" charset="0"/>
                <a:ea typeface="Arial" charset="0"/>
                <a:cs typeface="Arial" pitchFamily="34" charset="0"/>
              </a:defRPr>
            </a:lvl5pPr>
            <a:lvl6pPr marL="2438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6C30"/>
                </a:solidFill>
                <a:latin typeface="+mn-lt"/>
              </a:defRPr>
            </a:lvl6pPr>
            <a:lvl7pPr marL="2895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6C30"/>
                </a:solidFill>
                <a:latin typeface="+mn-lt"/>
              </a:defRPr>
            </a:lvl7pPr>
            <a:lvl8pPr marL="3352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6C30"/>
                </a:solidFill>
                <a:latin typeface="+mn-lt"/>
              </a:defRPr>
            </a:lvl8pPr>
            <a:lvl9pPr marL="3810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defRPr sz="1600">
                <a:solidFill>
                  <a:srgbClr val="006C30"/>
                </a:solidFill>
                <a:latin typeface="+mn-lt"/>
              </a:defRPr>
            </a:lvl9pPr>
          </a:lstStyle>
          <a:p>
            <a:pPr>
              <a:buClr>
                <a:srgbClr val="26804E"/>
              </a:buClr>
              <a:buFont typeface="Arial" panose="020B0604020202020204" pitchFamily="34" charset="0"/>
              <a:buChar char="•"/>
            </a:pPr>
            <a:r>
              <a:rPr lang="de-DE" sz="1800" kern="0" dirty="0"/>
              <a:t>Abschlussvortrag zur Bachelorarbeit</a:t>
            </a:r>
          </a:p>
          <a:p>
            <a:pPr>
              <a:buClr>
                <a:srgbClr val="26804E"/>
              </a:buClr>
              <a:buFont typeface="Arial" panose="020B0604020202020204" pitchFamily="34" charset="0"/>
              <a:buChar char="•"/>
            </a:pPr>
            <a:r>
              <a:rPr lang="de-DE" sz="1800" kern="0" dirty="0"/>
              <a:t>Aufgabensteller: Prof. Dr. Dieter Kranzlmüller</a:t>
            </a:r>
          </a:p>
          <a:p>
            <a:pPr>
              <a:buClr>
                <a:srgbClr val="26804E"/>
              </a:buClr>
              <a:buFont typeface="Arial" panose="020B0604020202020204" pitchFamily="34" charset="0"/>
              <a:buChar char="•"/>
            </a:pPr>
            <a:r>
              <a:rPr lang="de-DE" sz="1800" kern="0" dirty="0"/>
              <a:t>Betreuer: </a:t>
            </a:r>
            <a:r>
              <a:rPr lang="es-CO" sz="1800" kern="0" dirty="0"/>
              <a:t>Dr.</a:t>
            </a:r>
            <a:r>
              <a:rPr lang="es-CO" sz="1800" dirty="0"/>
              <a:t> Rubén Jesús García-Hernández</a:t>
            </a:r>
            <a:endParaRPr lang="de-DE" sz="1800" kern="0" dirty="0"/>
          </a:p>
          <a:p>
            <a:pPr>
              <a:buClr>
                <a:srgbClr val="26804E"/>
              </a:buClr>
              <a:buFont typeface="Arial" panose="020B0604020202020204" pitchFamily="34" charset="0"/>
              <a:buChar char="•"/>
            </a:pPr>
            <a:r>
              <a:rPr lang="de-DE" sz="1800" kern="0" dirty="0"/>
              <a:t>Datum des Vortrags: 13.10.2022</a:t>
            </a:r>
          </a:p>
        </p:txBody>
      </p:sp>
    </p:spTree>
    <p:extLst>
      <p:ext uri="{BB962C8B-B14F-4D97-AF65-F5344CB8AC3E}">
        <p14:creationId xmlns:p14="http://schemas.microsoft.com/office/powerpoint/2010/main" val="2936575287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/>
          <a:lstStyle/>
          <a:p>
            <a:r>
              <a:rPr lang="de-DE"/>
              <a:t>&lt;Name des Vortragenden&gt;, &lt;Titel des Vortrags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/>
          <a:lstStyle/>
          <a:p>
            <a:fld id="{8A2DA2AC-E7EE-4440-A9FC-EA69DD8DED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75932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x2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4105151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/>
          <a:lstStyle/>
          <a:p>
            <a:fld id="{2E991C28-C360-44FE-B11E-27FCA776C14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/>
          <a:lstStyle/>
          <a:p>
            <a:r>
              <a:rPr lang="de-DE"/>
              <a:t>&lt;Name des Vortragenden&gt;, &lt;Titel des Vortrags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/>
          <a:lstStyle/>
          <a:p>
            <a:fld id="{8A2DA2AC-E7EE-4440-A9FC-EA69DD8DEDDD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Inhaltsplatzhalter 8"/>
          <p:cNvSpPr>
            <a:spLocks noGrp="1"/>
          </p:cNvSpPr>
          <p:nvPr>
            <p:ph sz="quarter" idx="17"/>
          </p:nvPr>
        </p:nvSpPr>
        <p:spPr>
          <a:xfrm>
            <a:off x="4788024" y="951310"/>
            <a:ext cx="4105151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2150425303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1x3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9" name="Inhaltsplatzhalter 8"/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2809007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/>
          <a:lstStyle/>
          <a:p>
            <a:fld id="{4BB2E370-6E4E-4B6B-A057-85ED8FBC9A2D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/>
          <a:lstStyle/>
          <a:p>
            <a:r>
              <a:rPr lang="de-DE"/>
              <a:t>&lt;Name des Vortragenden&gt;, &lt;Titel des Vortrags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/>
          <a:lstStyle/>
          <a:p>
            <a:fld id="{8A2DA2AC-E7EE-4440-A9FC-EA69DD8DEDDD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Inhaltsplatzhalter 8"/>
          <p:cNvSpPr>
            <a:spLocks noGrp="1"/>
          </p:cNvSpPr>
          <p:nvPr>
            <p:ph sz="quarter" idx="17"/>
          </p:nvPr>
        </p:nvSpPr>
        <p:spPr>
          <a:xfrm>
            <a:off x="3167496" y="951310"/>
            <a:ext cx="2809007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  <p:sp>
        <p:nvSpPr>
          <p:cNvPr id="11" name="Inhaltsplatzhalter 8"/>
          <p:cNvSpPr>
            <a:spLocks noGrp="1"/>
          </p:cNvSpPr>
          <p:nvPr>
            <p:ph sz="quarter" idx="18"/>
          </p:nvPr>
        </p:nvSpPr>
        <p:spPr>
          <a:xfrm>
            <a:off x="6084168" y="951310"/>
            <a:ext cx="2809007" cy="378068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  <a:cs typeface="Arial" panose="020B0604020202020204" pitchFamily="34" charset="0"/>
              </a:defRPr>
            </a:lvl1pPr>
            <a:lvl2pPr>
              <a:defRPr sz="2000">
                <a:latin typeface="+mn-lt"/>
                <a:cs typeface="Arial" panose="020B0604020202020204" pitchFamily="34" charset="0"/>
              </a:defRPr>
            </a:lvl2pPr>
            <a:lvl3pPr>
              <a:defRPr sz="1800">
                <a:latin typeface="+mn-lt"/>
                <a:cs typeface="Arial" panose="020B0604020202020204" pitchFamily="34" charset="0"/>
              </a:defRPr>
            </a:lvl3pPr>
            <a:lvl4pPr>
              <a:defRPr>
                <a:latin typeface="+mn-lt"/>
                <a:cs typeface="Arial" panose="020B0604020202020204" pitchFamily="34" charset="0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</p:txBody>
      </p:sp>
    </p:spTree>
    <p:extLst>
      <p:ext uri="{BB962C8B-B14F-4D97-AF65-F5344CB8AC3E}">
        <p14:creationId xmlns:p14="http://schemas.microsoft.com/office/powerpoint/2010/main" val="1203586017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_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  <p:sp>
        <p:nvSpPr>
          <p:cNvPr id="6" name="Datumsplatzhalter 2"/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/>
          <a:lstStyle/>
          <a:p>
            <a:fld id="{513F67CF-3E55-4C1E-832C-7B726CF1287B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7" name="Fußzeilenplatzhalter 4"/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/>
          <a:lstStyle/>
          <a:p>
            <a:r>
              <a:rPr lang="de-DE"/>
              <a:t>&lt;Name des Vortragenden&gt;, &lt;Titel des Vortrags</a:t>
            </a:r>
            <a:endParaRPr lang="en-US" dirty="0"/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/>
          <a:lstStyle/>
          <a:p>
            <a:fld id="{8A2DA2AC-E7EE-4440-A9FC-EA69DD8DEDD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5049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ctrTitle"/>
          </p:nvPr>
        </p:nvSpPr>
        <p:spPr>
          <a:xfrm>
            <a:off x="685800" y="3089412"/>
            <a:ext cx="7772400" cy="1102519"/>
          </a:xfrm>
          <a:prstGeom prst="rect">
            <a:avLst/>
          </a:prstGeom>
        </p:spPr>
        <p:txBody>
          <a:bodyPr/>
          <a:lstStyle>
            <a:lvl1pPr>
              <a:defRPr sz="3600"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77789465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267B9B-6AEF-1ED2-CFA8-DA21EC61B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375"/>
            <a:ext cx="6858000" cy="17907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65E49C-D5A3-4B68-9537-AA98DD40AF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925"/>
            <a:ext cx="6858000" cy="1241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733078-8366-AB20-DE85-2409DB9565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8109AF-A88F-2C28-86B4-E87415AB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83C89-EE9A-D021-3887-452082CA1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593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0E6F2-D1F1-2694-FE47-83AE4C178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6A08C6-77CF-830A-6C00-3B4206B1A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73697-5E18-1295-7BDA-AC251484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98943F-B7FA-9278-D2EA-94C8E3D36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949DCC-4E04-3C5A-805D-A58E54637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22692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09DD9-9C7A-4521-62D0-1D34104C2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1DEAA2-78CB-215D-61B1-644990A9A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6A53518-DC2C-E572-181D-E9E04B7C3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D5E070-F175-7C00-7775-23E163307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5AA3B7-E04C-EA70-D3C1-90FDB174E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7788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D6C464-C1E2-7569-96D7-E58F187B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9882A5-386D-4C98-6C31-A3386D155F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07A23E-B69F-AF8E-8DC5-184752432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10D044-5DC4-B888-EBC6-A0F35543A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F5BEBD9-4ED4-B872-5350-B973B9C7E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E020A7-1F82-E6BF-555E-FF378C857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8656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358C3-842D-470D-BEA1-B17A436CB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84C4ACB-CDE1-B75A-95B2-2750E0BB5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A914530-4622-EE6B-BD55-60A421498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35D483B5-9CC9-687C-6BA9-E6BC76985A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9A156C-8211-EDD7-1158-8C0B799A8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6F4BDE2-EB37-E0E7-E84F-C1974F160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5025340-524C-2A0D-EA65-B003DAF8F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90AB2A3-2166-E2BA-D7CE-F097CF742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3493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4B86BD-AEF5-CC64-4E55-220A178D3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9A72C0-1807-BCE0-37D6-78342AD7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5F02652-FCAF-5295-DAE7-A28BE80FB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34E3028-6EF2-B372-4DC0-46A53E55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1593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462FF48-82F4-34CA-82C0-EE0A25913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EF9DEAA-7E1F-CDE8-A1A7-3EC2705FF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F6C612-7C2E-B7FE-9EC3-5EDA885F3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59310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40B43-2FBF-3269-DECF-4A659B9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EBD3B9-F12B-73C1-DBA8-2A0C5306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E67DB2-963A-3951-4975-A7CC6264F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E64614-DB1F-6861-B512-BDD5D069B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679FB1-52B3-C738-F161-1153B1ADD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8D86A3-014E-4B69-B2F3-D5D91E056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25563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730CBE-C40C-BA31-8E90-3E1BA9F04E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726AD58-DBD8-FA38-8099-0EAFA7A9BC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DCA7F7-6D85-16CB-7C36-8E4A994B31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CE9546-BEA5-5FFA-EB77-ABE408194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358798-ED0D-52E4-1D22-0A82062D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CB3254-9788-CE5B-DA3F-94FCFBD09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140211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50E13-3BBB-3F64-C550-15B95863E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7CBD2E2-B661-F4B9-DDD2-635FC7C554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570426-2EF0-9BAF-E100-501CD678B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43AAC5-AEA9-1908-0436-4F4554E8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6FABA5-A39B-711B-D4AB-530013CF7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5288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C192915-E311-D3E3-C5DE-DF97D3150D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EC8117-9154-F492-4265-CE827734B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F2ADC7-306E-7CA7-9350-612DBC4FA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471EF7-0BD5-0594-33DD-3A40296DB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EA8B1-D34C-A15B-DC7A-741BF6CC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377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13" Type="http://schemas.openxmlformats.org/officeDocument/2006/relationships/image" Target="../media/image4.wmf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7875637"/>
              </p:ext>
            </p:extLst>
          </p:nvPr>
        </p:nvGraphicFramePr>
        <p:xfrm>
          <a:off x="1589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270" imgH="270" progId="TCLayout.ActiveDocument.1">
                  <p:embed/>
                </p:oleObj>
              </mc:Choice>
              <mc:Fallback>
                <p:oleObj name="think-cell Folie" r:id="rId9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9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 Verbindung 10"/>
          <p:cNvCxnSpPr/>
          <p:nvPr/>
        </p:nvCxnSpPr>
        <p:spPr>
          <a:xfrm>
            <a:off x="0" y="822616"/>
            <a:ext cx="9144000" cy="0"/>
          </a:xfrm>
          <a:prstGeom prst="line">
            <a:avLst/>
          </a:prstGeom>
          <a:ln w="6350">
            <a:gradFill flip="none" rotWithShape="1">
              <a:gsLst>
                <a:gs pos="9000">
                  <a:srgbClr val="445E8C"/>
                </a:gs>
                <a:gs pos="91000">
                  <a:srgbClr val="A2C333"/>
                </a:gs>
                <a:gs pos="41000">
                  <a:srgbClr val="FF971B"/>
                </a:gs>
                <a:gs pos="64000">
                  <a:srgbClr val="D0003A"/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Bild 5" descr="Siegel_25s.eps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1" y="249492"/>
            <a:ext cx="685897" cy="67535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06" y="123478"/>
            <a:ext cx="8574041" cy="597409"/>
          </a:xfrm>
          <a:prstGeom prst="rect">
            <a:avLst/>
          </a:prstGeom>
        </p:spPr>
      </p:pic>
      <p:sp>
        <p:nvSpPr>
          <p:cNvPr id="3" name="Datumsplatzhalter 2"/>
          <p:cNvSpPr>
            <a:spLocks noGrp="1"/>
          </p:cNvSpPr>
          <p:nvPr>
            <p:ph type="dt" sz="half" idx="2"/>
          </p:nvPr>
        </p:nvSpPr>
        <p:spPr>
          <a:xfrm>
            <a:off x="251520" y="4762855"/>
            <a:ext cx="93610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0C84F3-5913-43CD-A3AC-04599FEFABD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1259632" y="4767263"/>
            <a:ext cx="6624736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 dirty="0"/>
              <a:t>&lt;Name des Vortragenden&gt;, &lt;Titel des Vortrags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7956376" y="4767263"/>
            <a:ext cx="558974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2DA2AC-E7EE-4440-A9FC-EA69DD8DEDDD}" type="slidenum">
              <a:rPr lang="en-US" smtClean="0"/>
              <a:t>‹Nº›</a:t>
            </a:fld>
            <a:endParaRPr lang="en-US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1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4383" y="383037"/>
            <a:ext cx="1580065" cy="306034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6" r:id="rId4"/>
    <p:sldLayoutId id="2147483663" r:id="rId5"/>
    <p:sldLayoutId id="2147483664" r:id="rId6"/>
  </p:sldLayoutIdLst>
  <p:transition spd="med">
    <p:fade/>
  </p:transition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Arial" charset="0"/>
          <a:ea typeface="MS PGothic" pitchFamily="34" charset="-128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Arial" charset="0"/>
          <a:ea typeface="MS PGothic" pitchFamily="34" charset="-128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Arial" charset="0"/>
          <a:ea typeface="MS PGothic" pitchFamily="34" charset="-128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Arial" charset="0"/>
          <a:ea typeface="MS PGothic" pitchFamily="34" charset="-128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LMU CompatilFact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LMU CompatilFact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LMU CompatilFact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1600">
          <a:solidFill>
            <a:srgbClr val="006C30"/>
          </a:solidFill>
          <a:latin typeface="LMU CompatilFact" pitchFamily="2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defRPr sz="2400">
          <a:solidFill>
            <a:srgbClr val="006C30"/>
          </a:solidFill>
          <a:latin typeface="Arial" pitchFamily="34" charset="0"/>
          <a:ea typeface="MS PGothic" pitchFamily="34" charset="-128"/>
          <a:cs typeface="Arial" pitchFamily="34" charset="0"/>
        </a:defRPr>
      </a:lvl1pPr>
      <a:lvl2pPr marL="742950" indent="-285750" algn="l" rtl="0" eaLnBrk="1" fontAlgn="base" hangingPunct="1">
        <a:lnSpc>
          <a:spcPct val="140000"/>
        </a:lnSpc>
        <a:spcBef>
          <a:spcPct val="20000"/>
        </a:spcBef>
        <a:spcAft>
          <a:spcPct val="0"/>
        </a:spcAft>
        <a:buClr>
          <a:srgbClr val="006600"/>
        </a:buClr>
        <a:buFont typeface="Times" pitchFamily="18" charset="0"/>
        <a:buChar char="•"/>
        <a:defRPr sz="1600">
          <a:solidFill>
            <a:srgbClr val="006C30"/>
          </a:solidFill>
          <a:latin typeface="Arial" pitchFamily="34" charset="0"/>
          <a:ea typeface="Arial" charset="0"/>
          <a:cs typeface="Arial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6600"/>
        </a:buClr>
        <a:buFont typeface="LMU CompatilFact" pitchFamily="2" charset="0"/>
        <a:buChar char="–"/>
        <a:defRPr sz="1600">
          <a:solidFill>
            <a:srgbClr val="006C30"/>
          </a:solidFill>
          <a:latin typeface="Arial" pitchFamily="34" charset="0"/>
          <a:ea typeface="Arial" charset="0"/>
          <a:cs typeface="Arial" pitchFamily="34" charset="0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rgbClr val="006600"/>
        </a:buClr>
        <a:buChar char="-"/>
        <a:defRPr sz="1600">
          <a:solidFill>
            <a:srgbClr val="006C30"/>
          </a:solidFill>
          <a:latin typeface="Arial" pitchFamily="34" charset="0"/>
          <a:ea typeface="Arial" charset="0"/>
          <a:cs typeface="Arial" pitchFamily="34" charset="0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006C30"/>
          </a:solidFill>
          <a:latin typeface="Arial" pitchFamily="34" charset="0"/>
          <a:ea typeface="Arial" charset="0"/>
          <a:cs typeface="Arial" pitchFamily="34" charset="0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006C30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006C30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006C30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defRPr sz="1600">
          <a:solidFill>
            <a:srgbClr val="006C30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B117726-2491-EE3C-6011-D8C8F47D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741845-DCD7-B254-902E-C6D2ACC66E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F4462E-A63C-8CE7-8427-A99EC0AB92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AD9A8B-7618-4520-8DA7-4275E6FBB5FB}" type="datetimeFigureOut">
              <a:rPr lang="es-CO" smtClean="0"/>
              <a:t>13/10/2022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3C2F0C-053C-CEAE-5BCF-C5F938DBEB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00A792-0749-A782-0330-22D1B84644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1FF4A-3A66-48FA-B232-B7BB0CFD318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33896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ile:Great_Barracuda,_corals,_sea_urchin_and_Caustic_(optics)%20_in_Kona,_Hawaii_2009.jpg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2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://graphics.ucsd.edu/~henrik/papers/photon_map/global_illumination_%20using_photon_maps_egwr96.pdf" TargetMode="External"/><Relationship Id="rId2" Type="http://schemas.openxmlformats.org/officeDocument/2006/relationships/hyperlink" Target="https://apps.dtic.mil/dtic/tr/fulltext/u2/a626479.pdf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graphics.ucsd.edu/~henrik/papers/time_photon/time_photon.pdf" TargetMode="External"/><Relationship Id="rId2" Type="http://schemas.openxmlformats.org/officeDocument/2006/relationships/hyperlink" Target="https://maverick.inria.fr/Members/Cyril.Soler/DEA/IlluminationGlobale/Papers/HWJ_PhotonMapping_Course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stamp/stamp.jsp?arnumber=951331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Theoretical Study of Stratified Photon Mapping with Kernel</a:t>
            </a:r>
            <a:br>
              <a:rPr lang="en-US" dirty="0"/>
            </a:b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Evert Andrés Buzón Badillo</a:t>
            </a:r>
          </a:p>
        </p:txBody>
      </p:sp>
    </p:spTree>
    <p:extLst>
      <p:ext uri="{BB962C8B-B14F-4D97-AF65-F5344CB8AC3E}">
        <p14:creationId xmlns:p14="http://schemas.microsoft.com/office/powerpoint/2010/main" val="136641990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Photon Mapping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1655" cy="37806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Global illumination technique that consists of two parts: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Photon map (data structure).</a:t>
            </a:r>
          </a:p>
          <a:p>
            <a:pPr marL="685800" lvl="1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Irradiance estimation (rendering).</a:t>
            </a:r>
            <a:r>
              <a:rPr lang="en-US" sz="1000" dirty="0">
                <a:solidFill>
                  <a:schemeClr val="tx1"/>
                </a:solidFill>
              </a:rPr>
              <a:t>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algorithm capable of efficiently simulate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       caustics.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Faster than other algorithms, but it needs more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       memory.</a:t>
            </a:r>
            <a:r>
              <a:rPr lang="en-US" sz="1400" dirty="0">
                <a:solidFill>
                  <a:schemeClr val="tx1"/>
                </a:solidFill>
              </a:rPr>
              <a:t>																																</a:t>
            </a:r>
          </a:p>
          <a:p>
            <a:pPr marL="0" indent="0"/>
            <a:r>
              <a:rPr lang="en-US" sz="1400" dirty="0">
                <a:solidFill>
                  <a:schemeClr val="tx1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>
              <a:solidFill>
                <a:schemeClr val="tx1"/>
              </a:solidFill>
            </a:endParaRP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4AE4DB-036F-4CB4-9C36-17F65F493ACB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</a:t>
            </a:fld>
            <a:endParaRPr lang="en-US"/>
          </a:p>
        </p:txBody>
      </p:sp>
      <p:pic>
        <p:nvPicPr>
          <p:cNvPr id="8" name="Imagen 7" descr="Un coral en el agua&#10;&#10;Descripción generada automáticamente con confianza media">
            <a:extLst>
              <a:ext uri="{FF2B5EF4-FFF2-40B4-BE49-F238E27FC236}">
                <a16:creationId xmlns:a16="http://schemas.microsoft.com/office/drawing/2014/main" id="{520EE6C5-E38A-99EB-45A7-9708642736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1225197"/>
            <a:ext cx="2784855" cy="2693106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5DDDAAA2-A9CD-CE72-34F9-800DC6123E66}"/>
              </a:ext>
            </a:extLst>
          </p:cNvPr>
          <p:cNvSpPr txBox="1"/>
          <p:nvPr/>
        </p:nvSpPr>
        <p:spPr>
          <a:xfrm>
            <a:off x="5352359" y="4059166"/>
            <a:ext cx="2952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Caustics generated by the interaction between light and the surface of water. Author: Brocken </a:t>
            </a:r>
            <a:r>
              <a:rPr lang="en-US" sz="800" dirty="0" err="1"/>
              <a:t>Inaglory</a:t>
            </a:r>
            <a:r>
              <a:rPr lang="en-US" sz="800" dirty="0"/>
              <a:t>, </a:t>
            </a:r>
            <a:r>
              <a:rPr lang="en-US" sz="800" dirty="0">
                <a:hlinkClick r:id="rId4"/>
              </a:rPr>
              <a:t>https://en.wikipedia.org/wiki/File:Great_Barracuda,_corals,_sea_urchin_and_Caustic_(optics) _in_Kona,_Hawaii_2009.jpg</a:t>
            </a:r>
            <a:endParaRPr lang="en-US" sz="800" dirty="0"/>
          </a:p>
          <a:p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37171920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563177-BAAB-F3C3-8415-06E4541E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Irradiance</a:t>
            </a:r>
            <a:r>
              <a:rPr lang="es-MX" dirty="0"/>
              <a:t> </a:t>
            </a:r>
            <a:r>
              <a:rPr lang="es-MX" dirty="0" err="1"/>
              <a:t>estimation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75B773-3B3A-691D-921A-6D830B7E4D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190847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Irradiance I() is the flux </a:t>
            </a:r>
            <a:r>
              <a:rPr lang="en-US" sz="1600" dirty="0">
                <a:solidFill>
                  <a:schemeClr val="tx1"/>
                </a:solidFill>
                <a:sym typeface="Symbol" panose="05050102010706020507" pitchFamily="18" charset="2"/>
              </a:rPr>
              <a:t></a:t>
            </a:r>
            <a:r>
              <a:rPr lang="en-US" sz="1600" dirty="0">
                <a:solidFill>
                  <a:schemeClr val="tx1"/>
                </a:solidFill>
              </a:rPr>
              <a:t> per unit area.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Irradiance estimation by the k nearest photons.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Biases in the estimation.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8DB6A9-315D-BDF1-F9AF-D19E6ED49B1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7A3CAC-AD23-8E31-7AC8-E2E7003F3F7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A22BB8-C250-BA41-BB95-D0107F0FF7A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2B0DB8B-2BD5-33BF-93FD-3B8F58B95A92}"/>
                  </a:ext>
                </a:extLst>
              </p:cNvPr>
              <p:cNvSpPr txBox="1"/>
              <p:nvPr/>
            </p:nvSpPr>
            <p:spPr>
              <a:xfrm>
                <a:off x="2195736" y="3291830"/>
                <a:ext cx="4061023" cy="689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	Î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2B0DB8B-2BD5-33BF-93FD-3B8F58B95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736" y="3291830"/>
                <a:ext cx="4061023" cy="6892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4300614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5B9C5-B05E-8307-A7A9-A4672948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Over</a:t>
            </a:r>
            <a:r>
              <a:rPr lang="es-MX" dirty="0"/>
              <a:t>- and </a:t>
            </a:r>
            <a:r>
              <a:rPr lang="es-MX" dirty="0" err="1"/>
              <a:t>under</a:t>
            </a:r>
            <a:r>
              <a:rPr lang="es-MX" dirty="0"/>
              <a:t>- </a:t>
            </a:r>
            <a:r>
              <a:rPr lang="es-MX" dirty="0" err="1"/>
              <a:t>estimation</a:t>
            </a:r>
            <a:r>
              <a:rPr lang="es-MX" dirty="0"/>
              <a:t> </a:t>
            </a:r>
            <a:r>
              <a:rPr lang="es-MX" dirty="0" err="1"/>
              <a:t>biases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76C8DB-BBE9-244B-0EDD-0C2837DC7C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1332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Firstly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reported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by</a:t>
            </a:r>
            <a:r>
              <a:rPr lang="es-MX" sz="1600" dirty="0">
                <a:solidFill>
                  <a:schemeClr val="tx1"/>
                </a:solidFill>
              </a:rPr>
              <a:t> Dr. Rubén </a:t>
            </a:r>
            <a:r>
              <a:rPr lang="es-CO" sz="1600" dirty="0">
                <a:solidFill>
                  <a:schemeClr val="tx1"/>
                </a:solidFill>
              </a:rPr>
              <a:t>García [2].</a:t>
            </a:r>
          </a:p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biases manifest when estimating the irradiance. </a:t>
            </a:r>
          </a:p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Can be eliminated for random sampling.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Can be eliminated for stratified sampling </a:t>
            </a:r>
            <a:r>
              <a:rPr lang="en-US" sz="1600" b="1">
                <a:solidFill>
                  <a:schemeClr val="tx1"/>
                </a:solidFill>
              </a:rPr>
              <a:t>with kernels?</a:t>
            </a:r>
            <a:endParaRPr lang="es-CO" sz="1600" b="1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FB5D29A-D1D0-FA02-4589-5C3DD94210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8F1832-959B-2ACE-6071-A9309FB841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9BC8B1-12CD-0C0B-0B76-75CC01F825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9BBBD07-8B80-26FC-0528-0F6BD7A1B5DD}"/>
                  </a:ext>
                </a:extLst>
              </p:cNvPr>
              <p:cNvSpPr txBox="1"/>
              <p:nvPr/>
            </p:nvSpPr>
            <p:spPr>
              <a:xfrm>
                <a:off x="4603699" y="3368059"/>
                <a:ext cx="2664296" cy="700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Î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9BBBD07-8B80-26FC-0528-0F6BD7A1B5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699" y="3368059"/>
                <a:ext cx="2664296" cy="70083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35719E9-A929-BAFA-8BB9-75A7442F1697}"/>
                  </a:ext>
                </a:extLst>
              </p:cNvPr>
              <p:cNvSpPr txBox="1"/>
              <p:nvPr/>
            </p:nvSpPr>
            <p:spPr>
              <a:xfrm>
                <a:off x="683568" y="3366438"/>
                <a:ext cx="4061023" cy="689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	Î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B35719E9-A929-BAFA-8BB9-75A7442F1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568" y="3366438"/>
                <a:ext cx="4061023" cy="6892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2F1F164B-C8FE-F325-FF32-254E2D3750D1}"/>
              </a:ext>
            </a:extLst>
          </p:cNvPr>
          <p:cNvSpPr/>
          <p:nvPr/>
        </p:nvSpPr>
        <p:spPr bwMode="auto">
          <a:xfrm>
            <a:off x="3768177" y="3579862"/>
            <a:ext cx="976414" cy="360040"/>
          </a:xfrm>
          <a:prstGeom prst="rightArrow">
            <a:avLst/>
          </a:prstGeom>
          <a:solidFill>
            <a:srgbClr val="26804E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9037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A9ABE5-D6E7-3FF7-1078-3670D1DE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Kernels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18B11F-98FB-4AC3-7CF4-2288BC87E7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1944911" cy="46831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26804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26804E"/>
                </a:solidFill>
              </a:rPr>
              <a:t>Epanechnikov</a:t>
            </a:r>
            <a:r>
              <a:rPr lang="en-US" sz="1600" dirty="0">
                <a:solidFill>
                  <a:srgbClr val="26804E"/>
                </a:solidFill>
              </a:rPr>
              <a:t>: </a:t>
            </a:r>
          </a:p>
          <a:p>
            <a:pPr marL="0" indent="0"/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4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73AE7D4-3738-A326-F9B9-07A8B6CB53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4C074F-00FE-8FA7-3898-A24774A9D0B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A5DE24-B399-8DEB-C2E0-C46F5AEB01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6D2F93-9439-854B-F926-212099F33B6E}"/>
                  </a:ext>
                </a:extLst>
              </p:cNvPr>
              <p:cNvSpPr txBox="1"/>
              <p:nvPr/>
            </p:nvSpPr>
            <p:spPr>
              <a:xfrm>
                <a:off x="2339752" y="1034933"/>
                <a:ext cx="1584176" cy="7693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1−</m:t>
                      </m:r>
                      <m:sSup>
                        <m:sSup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6D2F93-9439-854B-F926-212099F33B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1034933"/>
                <a:ext cx="1584176" cy="769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uadroTexto 7">
            <a:extLst>
              <a:ext uri="{FF2B5EF4-FFF2-40B4-BE49-F238E27FC236}">
                <a16:creationId xmlns:a16="http://schemas.microsoft.com/office/drawing/2014/main" id="{D4A3DC11-2B73-BBD4-862F-4C079391F3F2}"/>
              </a:ext>
            </a:extLst>
          </p:cNvPr>
          <p:cNvSpPr txBox="1"/>
          <p:nvPr/>
        </p:nvSpPr>
        <p:spPr>
          <a:xfrm>
            <a:off x="4427984" y="1250344"/>
            <a:ext cx="15121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rgbClr val="26804E"/>
                </a:solidFill>
              </a:rPr>
              <a:t>Cone</a:t>
            </a:r>
            <a:endParaRPr lang="es-MX" sz="1600" dirty="0">
              <a:solidFill>
                <a:srgbClr val="26804E"/>
              </a:solidFill>
            </a:endParaRPr>
          </a:p>
          <a:p>
            <a:r>
              <a:rPr lang="es-MX" sz="1600" dirty="0">
                <a:solidFill>
                  <a:srgbClr val="26804E"/>
                </a:solidFill>
              </a:rPr>
              <a:t>      /</a:t>
            </a:r>
            <a:r>
              <a:rPr lang="es-MX" sz="1600" dirty="0" err="1">
                <a:solidFill>
                  <a:srgbClr val="26804E"/>
                </a:solidFill>
              </a:rPr>
              <a:t>Triangle</a:t>
            </a:r>
            <a:r>
              <a:rPr lang="es-MX" sz="1600" dirty="0">
                <a:solidFill>
                  <a:srgbClr val="26804E"/>
                </a:solidFill>
              </a:rPr>
              <a:t>:</a:t>
            </a:r>
            <a:endParaRPr lang="es-CO" sz="1600" dirty="0">
              <a:solidFill>
                <a:srgbClr val="26804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287F83E-DE15-AECF-8019-1968067BE59D}"/>
                  </a:ext>
                </a:extLst>
              </p:cNvPr>
              <p:cNvSpPr txBox="1"/>
              <p:nvPr/>
            </p:nvSpPr>
            <p:spPr>
              <a:xfrm>
                <a:off x="6084168" y="1149476"/>
                <a:ext cx="1584175" cy="613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E287F83E-DE15-AECF-8019-1968067BE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4168" y="1149476"/>
                <a:ext cx="1584175" cy="61350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uadroTexto 9">
            <a:extLst>
              <a:ext uri="{FF2B5EF4-FFF2-40B4-BE49-F238E27FC236}">
                <a16:creationId xmlns:a16="http://schemas.microsoft.com/office/drawing/2014/main" id="{09F377C2-5F46-3C52-6AF1-1B1549AB0893}"/>
              </a:ext>
            </a:extLst>
          </p:cNvPr>
          <p:cNvSpPr txBox="1"/>
          <p:nvPr/>
        </p:nvSpPr>
        <p:spPr>
          <a:xfrm>
            <a:off x="323528" y="2956105"/>
            <a:ext cx="13681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rgbClr val="26804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rgbClr val="26804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26804E"/>
                </a:solidFill>
              </a:rPr>
              <a:t>Silverman:</a:t>
            </a:r>
            <a:endParaRPr lang="es-CO" sz="1600" dirty="0">
              <a:solidFill>
                <a:srgbClr val="26804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73D283D-28AC-2C30-DA5D-8498027F4508}"/>
                  </a:ext>
                </a:extLst>
              </p:cNvPr>
              <p:cNvSpPr txBox="1"/>
              <p:nvPr/>
            </p:nvSpPr>
            <p:spPr>
              <a:xfrm>
                <a:off x="2371573" y="3072799"/>
                <a:ext cx="1764891" cy="870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sSub>
                                            <m:sSubPr>
                                              <m:ctrlP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873D283D-28AC-2C30-DA5D-8498027F4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1573" y="3072799"/>
                <a:ext cx="1764891" cy="87081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4AD11568-74A8-64EE-49B1-15E8F6BFD5FA}"/>
              </a:ext>
            </a:extLst>
          </p:cNvPr>
          <p:cNvSpPr txBox="1"/>
          <p:nvPr/>
        </p:nvSpPr>
        <p:spPr>
          <a:xfrm>
            <a:off x="4427984" y="2962016"/>
            <a:ext cx="15121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rgbClr val="26804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rgbClr val="26804E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rgbClr val="26804E"/>
                </a:solidFill>
              </a:rPr>
              <a:t>Gaussian:</a:t>
            </a:r>
            <a:endParaRPr lang="es-CO" sz="1600" dirty="0">
              <a:solidFill>
                <a:srgbClr val="26804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22E6FC-D344-7C56-5B95-D54355EBC2DC}"/>
                  </a:ext>
                </a:extLst>
              </p:cNvPr>
              <p:cNvSpPr txBox="1"/>
              <p:nvPr/>
            </p:nvSpPr>
            <p:spPr>
              <a:xfrm>
                <a:off x="6068061" y="2956105"/>
                <a:ext cx="2015403" cy="9385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1−</m:t>
                      </m:r>
                      <m:f>
                        <m:f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  <m:sSubSup>
                                    <m:sSubSup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bSup>
                                    <m:sSubSupPr>
                                      <m:ctrlP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pt-BR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522E6FC-D344-7C56-5B95-D54355EBC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8061" y="2956105"/>
                <a:ext cx="2015403" cy="93852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51F510B-BF12-AA9F-B86B-EE9C809D3BC1}"/>
                  </a:ext>
                </a:extLst>
              </p:cNvPr>
              <p:cNvSpPr txBox="1"/>
              <p:nvPr/>
            </p:nvSpPr>
            <p:spPr>
              <a:xfrm>
                <a:off x="5436096" y="4318003"/>
                <a:ext cx="33843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600" i="1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s-CO" sz="1600" i="1" smtClean="0">
                          <a:latin typeface="Cambria Math" panose="02040503050406030204" pitchFamily="18" charset="0"/>
                        </a:rPr>
                        <m:t> = 1.953</m:t>
                      </m:r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951F510B-BF12-AA9F-B86B-EE9C809D3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096" y="4318003"/>
                <a:ext cx="3384376" cy="338554"/>
              </a:xfrm>
              <a:prstGeom prst="rect">
                <a:avLst/>
              </a:prstGeom>
              <a:blipFill>
                <a:blip r:embed="rId6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uadroTexto 13">
            <a:extLst>
              <a:ext uri="{FF2B5EF4-FFF2-40B4-BE49-F238E27FC236}">
                <a16:creationId xmlns:a16="http://schemas.microsoft.com/office/drawing/2014/main" id="{6BE025D0-4F2D-4896-954A-993E3A28C22C}"/>
              </a:ext>
            </a:extLst>
          </p:cNvPr>
          <p:cNvSpPr txBox="1"/>
          <p:nvPr/>
        </p:nvSpPr>
        <p:spPr>
          <a:xfrm>
            <a:off x="6588224" y="2040205"/>
            <a:ext cx="1800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/>
              <a:t>s = 1</a:t>
            </a:r>
            <a:endParaRPr lang="es-CO" sz="1600" dirty="0"/>
          </a:p>
        </p:txBody>
      </p:sp>
    </p:spTree>
    <p:extLst>
      <p:ext uri="{BB962C8B-B14F-4D97-AF65-F5344CB8AC3E}">
        <p14:creationId xmlns:p14="http://schemas.microsoft.com/office/powerpoint/2010/main" val="2343287815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3C8AC-1950-CB90-B7E2-DAD1678AE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Stratification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BE6F81-BD82-9FB4-C078-B8EFFC1A2AB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2804BC-A922-94F4-4549-75AB7A6808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602E8B-2F19-B81A-FA59-415CE7904EB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6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19B5E7C-044E-E4AE-CC68-BBA92E837790}"/>
              </a:ext>
            </a:extLst>
          </p:cNvPr>
          <p:cNvSpPr txBox="1"/>
          <p:nvPr/>
        </p:nvSpPr>
        <p:spPr>
          <a:xfrm>
            <a:off x="599155" y="4062207"/>
            <a:ext cx="17651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Basic stratification, as  described in [5].</a:t>
            </a:r>
            <a:endParaRPr lang="es-CO" sz="800" dirty="0"/>
          </a:p>
        </p:txBody>
      </p:sp>
      <p:pic>
        <p:nvPicPr>
          <p:cNvPr id="15" name="Imagen 1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0DC777EC-29BB-452A-BEE0-C4F3FD321D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140" y="1320020"/>
            <a:ext cx="2557387" cy="271424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B8ACB9B5-CF17-F006-2926-B6716ACE73AA}"/>
              </a:ext>
            </a:extLst>
          </p:cNvPr>
          <p:cNvSpPr txBox="1"/>
          <p:nvPr/>
        </p:nvSpPr>
        <p:spPr>
          <a:xfrm>
            <a:off x="3493081" y="4053604"/>
            <a:ext cx="1502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800" dirty="0"/>
              <a:t>Basic stratification strategy 2D for  10 000 photons.</a:t>
            </a:r>
            <a:endParaRPr lang="es-CO" sz="800" dirty="0"/>
          </a:p>
        </p:txBody>
      </p:sp>
      <p:pic>
        <p:nvPicPr>
          <p:cNvPr id="20" name="Marcador de contenido 19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71B943FA-0E26-9A29-C75A-E0F5F4E6B74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40" y="1541182"/>
            <a:ext cx="2822448" cy="2517648"/>
          </a:xfrm>
        </p:spPr>
      </p:pic>
      <p:pic>
        <p:nvPicPr>
          <p:cNvPr id="7" name="Imagen 6" descr="Gráfico de dispersión&#10;&#10;Descripción generada automáticamente">
            <a:extLst>
              <a:ext uri="{FF2B5EF4-FFF2-40B4-BE49-F238E27FC236}">
                <a16:creationId xmlns:a16="http://schemas.microsoft.com/office/drawing/2014/main" id="{BDBA9992-DDAF-60D5-91DE-5474FA4C4A2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455885"/>
            <a:ext cx="2899946" cy="255028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22D33B5B-DC13-27FE-CBB5-B5AFF0EAA4FE}"/>
              </a:ext>
            </a:extLst>
          </p:cNvPr>
          <p:cNvSpPr txBox="1"/>
          <p:nvPr/>
        </p:nvSpPr>
        <p:spPr>
          <a:xfrm>
            <a:off x="6300192" y="4062207"/>
            <a:ext cx="2088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Basic </a:t>
            </a:r>
            <a:r>
              <a:rPr lang="es-MX" sz="800" dirty="0" err="1"/>
              <a:t>stratification</a:t>
            </a:r>
            <a:r>
              <a:rPr lang="es-MX" sz="800" dirty="0"/>
              <a:t> </a:t>
            </a:r>
            <a:r>
              <a:rPr lang="es-MX" sz="800" dirty="0" err="1"/>
              <a:t>strategy</a:t>
            </a:r>
            <a:r>
              <a:rPr lang="es-MX" sz="800" dirty="0"/>
              <a:t> 3D </a:t>
            </a:r>
            <a:r>
              <a:rPr lang="es-MX" sz="800" dirty="0" err="1"/>
              <a:t>for</a:t>
            </a:r>
            <a:r>
              <a:rPr lang="es-MX" sz="800" dirty="0"/>
              <a:t> 10 000 </a:t>
            </a:r>
            <a:r>
              <a:rPr lang="es-MX" sz="800" dirty="0" err="1"/>
              <a:t>photons</a:t>
            </a:r>
            <a:r>
              <a:rPr lang="es-MX" sz="800" dirty="0"/>
              <a:t>.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81767728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546028-247E-43DD-42A4-89CF0961F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Experiment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53412E-018B-0D08-D603-78760813FBA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Irradiance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estimate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a </a:t>
            </a:r>
            <a:r>
              <a:rPr lang="es-MX" sz="1600" dirty="0" err="1">
                <a:solidFill>
                  <a:schemeClr val="tx1"/>
                </a:solidFill>
              </a:rPr>
              <a:t>point</a:t>
            </a:r>
            <a:r>
              <a:rPr lang="es-MX" sz="1600" dirty="0">
                <a:solidFill>
                  <a:schemeClr val="tx1"/>
                </a:solidFill>
              </a:rPr>
              <a:t> P in </a:t>
            </a: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center.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Directional</a:t>
            </a:r>
            <a:r>
              <a:rPr lang="es-MX" sz="1600" dirty="0">
                <a:solidFill>
                  <a:schemeClr val="tx1"/>
                </a:solidFill>
              </a:rPr>
              <a:t> light </a:t>
            </a:r>
            <a:r>
              <a:rPr lang="es-MX" sz="1600" dirty="0" err="1">
                <a:solidFill>
                  <a:schemeClr val="tx1"/>
                </a:solidFill>
              </a:rPr>
              <a:t>source</a:t>
            </a:r>
            <a:r>
              <a:rPr lang="es-MX" sz="16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Real </a:t>
            </a:r>
            <a:r>
              <a:rPr lang="es-MX" sz="1600" dirty="0" err="1">
                <a:solidFill>
                  <a:schemeClr val="tx1"/>
                </a:solidFill>
              </a:rPr>
              <a:t>irradiance</a:t>
            </a:r>
            <a:r>
              <a:rPr lang="es-MX" sz="1600" dirty="0">
                <a:solidFill>
                  <a:schemeClr val="tx1"/>
                </a:solidFill>
              </a:rPr>
              <a:t> at P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 I(P).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radii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of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strata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116153-20B2-61F7-1321-8C2FF58B16D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FF2A2F-BC21-EC9F-79A4-C951AC41ACA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B1A90C-598E-B51E-50AA-C6D3377483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7</a:t>
            </a:fld>
            <a:endParaRPr lang="en-US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2DDA24BF-096D-9EBC-F6EC-9AC26F3C34B5}"/>
              </a:ext>
            </a:extLst>
          </p:cNvPr>
          <p:cNvGrpSpPr/>
          <p:nvPr/>
        </p:nvGrpSpPr>
        <p:grpSpPr>
          <a:xfrm>
            <a:off x="539063" y="3274889"/>
            <a:ext cx="2502409" cy="449233"/>
            <a:chOff x="539063" y="3274889"/>
            <a:chExt cx="2502409" cy="44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84FA7550-A5EE-96FA-241F-953EA6540E3F}"/>
                    </a:ext>
                  </a:extLst>
                </p:cNvPr>
                <p:cNvSpPr txBox="1"/>
                <p:nvPr/>
              </p:nvSpPr>
              <p:spPr>
                <a:xfrm>
                  <a:off x="953240" y="3274889"/>
                  <a:ext cx="2088232" cy="427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s-CO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s-CO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s-CO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lit/>
                              </m:rPr>
                              <a:rPr lang="es-CO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7" name="CuadroTexto 6">
                  <a:extLst>
                    <a:ext uri="{FF2B5EF4-FFF2-40B4-BE49-F238E27FC236}">
                      <a16:creationId xmlns:a16="http://schemas.microsoft.com/office/drawing/2014/main" id="{84FA7550-A5EE-96FA-241F-953EA6540E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240" y="3274889"/>
                  <a:ext cx="2088232" cy="427746"/>
                </a:xfrm>
                <a:prstGeom prst="rect">
                  <a:avLst/>
                </a:prstGeom>
                <a:blipFill>
                  <a:blip r:embed="rId2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03FA9139-C854-0167-148D-296B17726E19}"/>
                </a:ext>
              </a:extLst>
            </p:cNvPr>
            <p:cNvSpPr txBox="1"/>
            <p:nvPr/>
          </p:nvSpPr>
          <p:spPr>
            <a:xfrm>
              <a:off x="539063" y="3354790"/>
              <a:ext cx="737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26804E"/>
                  </a:solidFill>
                </a:rPr>
                <a:t>2D</a:t>
              </a:r>
              <a:endParaRPr lang="es-CO" dirty="0">
                <a:solidFill>
                  <a:srgbClr val="26804E"/>
                </a:solidFill>
              </a:endParaRP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CC8B879-4B45-B117-4EA1-58E891EFCA8B}"/>
              </a:ext>
            </a:extLst>
          </p:cNvPr>
          <p:cNvGrpSpPr/>
          <p:nvPr/>
        </p:nvGrpSpPr>
        <p:grpSpPr>
          <a:xfrm>
            <a:off x="557423" y="4011470"/>
            <a:ext cx="2484049" cy="427746"/>
            <a:chOff x="557423" y="4011470"/>
            <a:chExt cx="2484049" cy="427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24A95973-D855-EB1F-4EB4-16FA83488BDB}"/>
                    </a:ext>
                  </a:extLst>
                </p:cNvPr>
                <p:cNvSpPr txBox="1"/>
                <p:nvPr/>
              </p:nvSpPr>
              <p:spPr>
                <a:xfrm>
                  <a:off x="953240" y="4011470"/>
                  <a:ext cx="2088232" cy="427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nn-NO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ctrlPr>
                              <a:rPr lang="nn-NO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lit/>
                              </m:rPr>
                              <a:rPr lang="nn-NO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24A95973-D855-EB1F-4EB4-16FA83488B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240" y="4011470"/>
                  <a:ext cx="2088232" cy="427746"/>
                </a:xfrm>
                <a:prstGeom prst="rect">
                  <a:avLst/>
                </a:prstGeom>
                <a:blipFill>
                  <a:blip r:embed="rId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3330648-7780-378E-1E46-797D5B774C4A}"/>
                </a:ext>
              </a:extLst>
            </p:cNvPr>
            <p:cNvSpPr txBox="1"/>
            <p:nvPr/>
          </p:nvSpPr>
          <p:spPr>
            <a:xfrm>
              <a:off x="557423" y="4040677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26804E"/>
                  </a:solidFill>
                </a:rPr>
                <a:t>3D</a:t>
              </a:r>
              <a:endParaRPr lang="es-CO" dirty="0">
                <a:solidFill>
                  <a:srgbClr val="26804E"/>
                </a:solidFill>
              </a:endParaRPr>
            </a:p>
          </p:txBody>
        </p:sp>
      </p:grpSp>
      <p:pic>
        <p:nvPicPr>
          <p:cNvPr id="12" name="Imagen 11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60BB61BF-5629-A6B4-A71F-EBAB665298C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54" y="1563638"/>
            <a:ext cx="2308766" cy="230040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2694B9FB-10CC-B931-95E5-CC9C2CD52371}"/>
              </a:ext>
            </a:extLst>
          </p:cNvPr>
          <p:cNvSpPr txBox="1"/>
          <p:nvPr/>
        </p:nvSpPr>
        <p:spPr>
          <a:xfrm>
            <a:off x="5143554" y="3864040"/>
            <a:ext cx="2452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 Graphical representation of the experiment with basic stratification strategy for 10 rings, programmed in Mathematica. Extension of the experiments in [3] and [5].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853353304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DAA185-50CF-D2E2-A4ED-342C42F76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Study</a:t>
            </a:r>
            <a:r>
              <a:rPr lang="es-MX" dirty="0"/>
              <a:t> </a:t>
            </a:r>
            <a:r>
              <a:rPr lang="es-MX" dirty="0" err="1"/>
              <a:t>of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biases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629BB0-C453-DB94-9997-187BD4189E1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800" dirty="0" err="1">
                <a:solidFill>
                  <a:srgbClr val="26804E"/>
                </a:solidFill>
              </a:rPr>
              <a:t>Theoretical</a:t>
            </a:r>
            <a:r>
              <a:rPr lang="es-MX" sz="1800" dirty="0">
                <a:solidFill>
                  <a:srgbClr val="26804E"/>
                </a:solidFill>
              </a:rPr>
              <a:t> </a:t>
            </a:r>
            <a:r>
              <a:rPr lang="es-MX" sz="1800" dirty="0" err="1">
                <a:solidFill>
                  <a:srgbClr val="26804E"/>
                </a:solidFill>
              </a:rPr>
              <a:t>study</a:t>
            </a:r>
            <a:r>
              <a:rPr lang="es-MX" sz="1800" dirty="0">
                <a:solidFill>
                  <a:srgbClr val="26804E"/>
                </a:solidFill>
              </a:rPr>
              <a:t>:</a:t>
            </a:r>
          </a:p>
          <a:p>
            <a:pPr marL="571500" lvl="1" indent="-171450"/>
            <a:r>
              <a:rPr lang="es-MX" sz="1400" dirty="0" err="1">
                <a:solidFill>
                  <a:schemeClr val="tx1"/>
                </a:solidFill>
              </a:rPr>
              <a:t>Source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of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the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biases</a:t>
            </a:r>
            <a:r>
              <a:rPr lang="es-MX" sz="1400" dirty="0">
                <a:solidFill>
                  <a:schemeClr val="tx1"/>
                </a:solidFill>
              </a:rPr>
              <a:t>.</a:t>
            </a:r>
          </a:p>
          <a:p>
            <a:pPr marL="571500" lvl="1" indent="-171450"/>
            <a:r>
              <a:rPr lang="es-MX" sz="1400" dirty="0" err="1">
                <a:solidFill>
                  <a:schemeClr val="tx1"/>
                </a:solidFill>
              </a:rPr>
              <a:t>Possible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solution</a:t>
            </a:r>
            <a:r>
              <a:rPr lang="es-MX" sz="1400" dirty="0">
                <a:solidFill>
                  <a:schemeClr val="tx1"/>
                </a:solidFill>
              </a:rPr>
              <a:t> (</a:t>
            </a:r>
            <a:r>
              <a:rPr lang="es-MX" sz="1400" dirty="0" err="1">
                <a:solidFill>
                  <a:schemeClr val="tx1"/>
                </a:solidFill>
              </a:rPr>
              <a:t>if</a:t>
            </a:r>
            <a:r>
              <a:rPr lang="es-MX" sz="1400" dirty="0">
                <a:solidFill>
                  <a:schemeClr val="tx1"/>
                </a:solidFill>
              </a:rPr>
              <a:t> </a:t>
            </a:r>
            <a:r>
              <a:rPr lang="es-MX" sz="1400" dirty="0" err="1">
                <a:solidFill>
                  <a:schemeClr val="tx1"/>
                </a:solidFill>
              </a:rPr>
              <a:t>any</a:t>
            </a:r>
            <a:r>
              <a:rPr lang="es-MX" sz="1400" dirty="0">
                <a:solidFill>
                  <a:schemeClr val="tx1"/>
                </a:solidFill>
              </a:rPr>
              <a:t>).</a:t>
            </a:r>
            <a:r>
              <a:rPr lang="es-MX" sz="1200" dirty="0">
                <a:solidFill>
                  <a:schemeClr val="tx1"/>
                </a:solidFill>
              </a:rPr>
              <a:t>							</a:t>
            </a:r>
          </a:p>
          <a:p>
            <a:pPr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1800" dirty="0" err="1">
                <a:solidFill>
                  <a:srgbClr val="26804E"/>
                </a:solidFill>
              </a:rPr>
              <a:t>Empirical</a:t>
            </a:r>
            <a:r>
              <a:rPr lang="es-CO" sz="1800" dirty="0">
                <a:solidFill>
                  <a:srgbClr val="26804E"/>
                </a:solidFill>
              </a:rPr>
              <a:t> </a:t>
            </a:r>
            <a:r>
              <a:rPr lang="es-CO" sz="1800" dirty="0" err="1">
                <a:solidFill>
                  <a:srgbClr val="26804E"/>
                </a:solidFill>
              </a:rPr>
              <a:t>study</a:t>
            </a:r>
            <a:r>
              <a:rPr lang="es-CO" sz="1800" dirty="0">
                <a:solidFill>
                  <a:srgbClr val="26804E"/>
                </a:solidFill>
              </a:rPr>
              <a:t>:</a:t>
            </a:r>
          </a:p>
          <a:p>
            <a:pPr marL="571500" lvl="1" indent="-171450">
              <a:buFont typeface="Arial" panose="020B0604020202020204" pitchFamily="34" charset="0"/>
              <a:buChar char="•"/>
            </a:pPr>
            <a:r>
              <a:rPr lang="es-CO" sz="1400" dirty="0">
                <a:solidFill>
                  <a:schemeClr val="tx1"/>
                </a:solidFill>
              </a:rPr>
              <a:t>Observe </a:t>
            </a:r>
            <a:r>
              <a:rPr lang="es-CO" sz="1400" dirty="0" err="1">
                <a:solidFill>
                  <a:schemeClr val="tx1"/>
                </a:solidFill>
              </a:rPr>
              <a:t>biases</a:t>
            </a:r>
            <a:r>
              <a:rPr lang="es-CO" sz="1400" dirty="0">
                <a:solidFill>
                  <a:schemeClr val="tx1"/>
                </a:solidFill>
              </a:rPr>
              <a:t>.</a:t>
            </a:r>
          </a:p>
          <a:p>
            <a:pPr marL="400050" lvl="1" indent="0">
              <a:buNone/>
            </a:pPr>
            <a:endParaRPr lang="es-CO" sz="1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sz="1800" dirty="0">
                <a:solidFill>
                  <a:srgbClr val="26804E"/>
                </a:solidFill>
              </a:rPr>
              <a:t>Compare </a:t>
            </a:r>
            <a:r>
              <a:rPr lang="es-CO" sz="1800" dirty="0" err="1">
                <a:solidFill>
                  <a:srgbClr val="26804E"/>
                </a:solidFill>
              </a:rPr>
              <a:t>results</a:t>
            </a:r>
            <a:r>
              <a:rPr lang="es-CO" sz="1800" dirty="0">
                <a:solidFill>
                  <a:srgbClr val="26804E"/>
                </a:solidFill>
              </a:rPr>
              <a:t>.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22EC7D-494A-8A3C-02FC-8BF829C0C7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356C04-DF31-F267-9C3C-8BAC5C7679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B60C42-1A9F-3D0F-9D28-9B2FDA1E357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11457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CC8272-2D16-139C-E84D-7C1AE969F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Optimizations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0DB762-46BB-54C6-AE9E-91374DCD32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74EAFF1-67A7-91B6-8A17-BE8577FA2CF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C31265-67E0-C093-7169-AFCD58F5AFB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9</a:t>
            </a:fld>
            <a:endParaRPr lang="en-U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8AA760F6-D59D-507D-9F0A-B1FCA4BCDFD4}"/>
              </a:ext>
            </a:extLst>
          </p:cNvPr>
          <p:cNvSpPr/>
          <p:nvPr/>
        </p:nvSpPr>
        <p:spPr bwMode="auto">
          <a:xfrm>
            <a:off x="8112665" y="1770566"/>
            <a:ext cx="198239" cy="18119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03DFC1AD-187F-2803-E1B3-AD6B20854E77}"/>
              </a:ext>
            </a:extLst>
          </p:cNvPr>
          <p:cNvGrpSpPr/>
          <p:nvPr/>
        </p:nvGrpSpPr>
        <p:grpSpPr>
          <a:xfrm>
            <a:off x="3995936" y="1586308"/>
            <a:ext cx="4825569" cy="1698406"/>
            <a:chOff x="3995936" y="1586308"/>
            <a:chExt cx="4825569" cy="1698406"/>
          </a:xfrm>
        </p:grpSpPr>
        <p:sp>
          <p:nvSpPr>
            <p:cNvPr id="9" name="Flecha: a la derecha 8">
              <a:extLst>
                <a:ext uri="{FF2B5EF4-FFF2-40B4-BE49-F238E27FC236}">
                  <a16:creationId xmlns:a16="http://schemas.microsoft.com/office/drawing/2014/main" id="{D5075730-77BB-B739-72F8-9F7C3CE76C7F}"/>
                </a:ext>
              </a:extLst>
            </p:cNvPr>
            <p:cNvSpPr/>
            <p:nvPr/>
          </p:nvSpPr>
          <p:spPr bwMode="auto">
            <a:xfrm>
              <a:off x="3995936" y="2264350"/>
              <a:ext cx="936104" cy="432048"/>
            </a:xfrm>
            <a:prstGeom prst="rightArrow">
              <a:avLst/>
            </a:prstGeom>
            <a:solidFill>
              <a:srgbClr val="26804E"/>
            </a:solidFill>
            <a:ln>
              <a:noFill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CO" sz="1400" b="0" i="0" u="none" strike="noStrike" cap="none" normalizeH="0" baseline="0">
                <a:ln>
                  <a:noFill/>
                </a:ln>
                <a:solidFill>
                  <a:srgbClr val="26804E"/>
                </a:solidFill>
                <a:effectLst/>
                <a:latin typeface="LMU CompatilFact" pitchFamily="2" charset="0"/>
              </a:endParaRPr>
            </a:p>
          </p:txBody>
        </p:sp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877C8EBD-8BF1-8E5F-D64B-29DBD50C2F97}"/>
                </a:ext>
              </a:extLst>
            </p:cNvPr>
            <p:cNvGrpSpPr/>
            <p:nvPr/>
          </p:nvGrpSpPr>
          <p:grpSpPr>
            <a:xfrm>
              <a:off x="4932040" y="1586308"/>
              <a:ext cx="3828083" cy="530723"/>
              <a:chOff x="4932040" y="1586308"/>
              <a:chExt cx="3828083" cy="530723"/>
            </a:xfrm>
          </p:grpSpPr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F750EC11-506C-0E16-B719-5A84FBB44C53}"/>
                  </a:ext>
                </a:extLst>
              </p:cNvPr>
              <p:cNvSpPr txBox="1"/>
              <p:nvPr/>
            </p:nvSpPr>
            <p:spPr>
              <a:xfrm>
                <a:off x="4932040" y="1676496"/>
                <a:ext cx="914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rgbClr val="26804E"/>
                    </a:solidFill>
                  </a:rPr>
                  <a:t>2D</a:t>
                </a:r>
                <a:endParaRPr lang="es-CO" dirty="0">
                  <a:solidFill>
                    <a:srgbClr val="26804E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E1BF8BEF-8FF4-D965-5239-9C7456EAC477}"/>
                      </a:ext>
                    </a:extLst>
                  </p:cNvPr>
                  <p:cNvSpPr txBox="1"/>
                  <p:nvPr/>
                </p:nvSpPr>
                <p:spPr>
                  <a:xfrm>
                    <a:off x="5376179" y="1586308"/>
                    <a:ext cx="3383944" cy="5307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nn-NO" sz="1400" i="1" smtClean="0">
                              <a:latin typeface="Cambria Math" panose="02040503050406030204" pitchFamily="18" charset="0"/>
                            </a:rPr>
                            <m:t>	</m:t>
                          </m:r>
                          <m:r>
                            <a:rPr lang="nn-NO" sz="140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  <m:d>
                            <m:dPr>
                              <m:ctrlP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nn-NO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degHide m:val="on"/>
                              <m:ctrlP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d>
                                <m:dPr>
                                  <m:ctrlPr>
                                    <a:rPr lang="nn-N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n-N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nn-NO" sz="1400" i="1" smtClean="0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r>
                                    <a:rPr lang="nn-NO" sz="1400" i="1" smtClean="0">
                                      <a:latin typeface="Cambria Math" panose="02040503050406030204" pitchFamily="18" charset="0"/>
                                    </a:rPr>
                                    <m:t>𝑟𝑎𝑛𝑑</m:t>
                                  </m:r>
                                  <m:d>
                                    <m:dPr>
                                      <m:ctrlPr>
                                        <a:rPr lang="nn-N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/>
                                  </m:d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nn-NO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oMath>
                      </m:oMathPara>
                    </a14:m>
                    <a:endParaRPr lang="es-CO" sz="1400" dirty="0"/>
                  </a:p>
                </p:txBody>
              </p:sp>
            </mc:Choice>
            <mc:Fallback xmlns="">
              <p:sp>
                <p:nvSpPr>
                  <p:cNvPr id="12" name="CuadroTexto 11">
                    <a:extLst>
                      <a:ext uri="{FF2B5EF4-FFF2-40B4-BE49-F238E27FC236}">
                        <a16:creationId xmlns:a16="http://schemas.microsoft.com/office/drawing/2014/main" id="{E1BF8BEF-8FF4-D965-5239-9C7456EAC4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76179" y="1586308"/>
                    <a:ext cx="3383944" cy="530723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1" name="Grupo 20">
              <a:extLst>
                <a:ext uri="{FF2B5EF4-FFF2-40B4-BE49-F238E27FC236}">
                  <a16:creationId xmlns:a16="http://schemas.microsoft.com/office/drawing/2014/main" id="{012723F1-888B-8735-9A9D-5135D1561D2F}"/>
                </a:ext>
              </a:extLst>
            </p:cNvPr>
            <p:cNvGrpSpPr/>
            <p:nvPr/>
          </p:nvGrpSpPr>
          <p:grpSpPr>
            <a:xfrm>
              <a:off x="4938998" y="2753991"/>
              <a:ext cx="3882507" cy="530723"/>
              <a:chOff x="4938998" y="2753991"/>
              <a:chExt cx="3882507" cy="530723"/>
            </a:xfrm>
          </p:grpSpPr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203D2A07-F7DC-4A2D-F7C1-BCEB17661D5E}"/>
                  </a:ext>
                </a:extLst>
              </p:cNvPr>
              <p:cNvSpPr txBox="1"/>
              <p:nvPr/>
            </p:nvSpPr>
            <p:spPr>
              <a:xfrm>
                <a:off x="4938998" y="2852547"/>
                <a:ext cx="10514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MX" dirty="0">
                    <a:solidFill>
                      <a:srgbClr val="26804E"/>
                    </a:solidFill>
                  </a:rPr>
                  <a:t>3D</a:t>
                </a:r>
                <a:endParaRPr lang="es-CO" dirty="0">
                  <a:solidFill>
                    <a:srgbClr val="26804E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3C78F274-0B66-5008-D205-C3AC2D9B7203}"/>
                      </a:ext>
                    </a:extLst>
                  </p:cNvPr>
                  <p:cNvSpPr txBox="1"/>
                  <p:nvPr/>
                </p:nvSpPr>
                <p:spPr>
                  <a:xfrm>
                    <a:off x="5314797" y="2753991"/>
                    <a:ext cx="3506708" cy="53072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	</m:t>
                          </m:r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𝐷𝑖𝑠𝑡𝑎𝑛𝑐𝑒</m:t>
                          </m:r>
                          <m:d>
                            <m:d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d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ad>
                            <m:rad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−1+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𝑟𝑎𝑛𝑑</m:t>
                                  </m:r>
                                  <m:d>
                                    <m:d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/>
                                  </m:d>
                                </m:e>
                              </m:d>
                              <m:r>
                                <m:rPr>
                                  <m:lit/>
                                </m:r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rad>
                        </m:oMath>
                      </m:oMathPara>
                    </a14:m>
                    <a:endParaRPr lang="es-CO" sz="1400" dirty="0"/>
                  </a:p>
                </p:txBody>
              </p:sp>
            </mc:Choice>
            <mc:Fallback xmlns="">
              <p:sp>
                <p:nvSpPr>
                  <p:cNvPr id="14" name="CuadroTexto 13">
                    <a:extLst>
                      <a:ext uri="{FF2B5EF4-FFF2-40B4-BE49-F238E27FC236}">
                        <a16:creationId xmlns:a16="http://schemas.microsoft.com/office/drawing/2014/main" id="{3C78F274-0B66-5008-D205-C3AC2D9B72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14797" y="2753991"/>
                    <a:ext cx="3506708" cy="53072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s-CO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6980CDD-F429-E6DF-655E-4BBB99AE96B4}"/>
              </a:ext>
            </a:extLst>
          </p:cNvPr>
          <p:cNvSpPr/>
          <p:nvPr/>
        </p:nvSpPr>
        <p:spPr bwMode="auto">
          <a:xfrm>
            <a:off x="8134264" y="2971177"/>
            <a:ext cx="176640" cy="1398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78010EA-39EB-48C5-6C8A-3F0EFC57E28A}"/>
              </a:ext>
            </a:extLst>
          </p:cNvPr>
          <p:cNvSpPr txBox="1"/>
          <p:nvPr/>
        </p:nvSpPr>
        <p:spPr>
          <a:xfrm>
            <a:off x="633244" y="3197605"/>
            <a:ext cx="2952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Ring Point Picking algorithm, modification of the Direct Disk Point Picking method described in [10].</a:t>
            </a:r>
            <a:endParaRPr lang="es-CO" sz="800" dirty="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0662ABE-DEC7-6F21-CF89-3AE994999596}"/>
              </a:ext>
            </a:extLst>
          </p:cNvPr>
          <p:cNvSpPr/>
          <p:nvPr/>
        </p:nvSpPr>
        <p:spPr bwMode="auto">
          <a:xfrm>
            <a:off x="8123464" y="1807806"/>
            <a:ext cx="176640" cy="1398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p:pic>
        <p:nvPicPr>
          <p:cNvPr id="28" name="Marcador de contenido 27" descr="Texto, Carta&#10;&#10;Descripción generada automáticamente">
            <a:extLst>
              <a:ext uri="{FF2B5EF4-FFF2-40B4-BE49-F238E27FC236}">
                <a16:creationId xmlns:a16="http://schemas.microsoft.com/office/drawing/2014/main" id="{99833863-EA48-492E-D897-CBE7C3E66C0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790" y="1747269"/>
            <a:ext cx="3086367" cy="1417443"/>
          </a:xfrm>
        </p:spPr>
      </p:pic>
    </p:spTree>
    <p:extLst>
      <p:ext uri="{BB962C8B-B14F-4D97-AF65-F5344CB8AC3E}">
        <p14:creationId xmlns:p14="http://schemas.microsoft.com/office/powerpoint/2010/main" val="14101175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E2CA7-8803-6308-1984-7BC9C6776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Optimizations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75C099-6D4D-13E6-64AE-7F6E1BECED4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/>
              <a:t>Epanechnikov</a:t>
            </a:r>
            <a:r>
              <a:rPr lang="es-MX" sz="1600" dirty="0"/>
              <a:t>:</a:t>
            </a:r>
          </a:p>
          <a:p>
            <a:pPr marL="0" indent="0"/>
            <a:endParaRPr lang="es-MX" sz="1600" dirty="0"/>
          </a:p>
          <a:p>
            <a:pPr marL="0" indent="0"/>
            <a:endParaRPr lang="es-MX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/>
              <a:t>Cone</a:t>
            </a:r>
            <a:r>
              <a:rPr lang="es-MX" sz="1600" dirty="0"/>
              <a:t>:</a:t>
            </a:r>
          </a:p>
          <a:p>
            <a:pPr marL="0" indent="0"/>
            <a:endParaRPr lang="es-MX" sz="1600" dirty="0"/>
          </a:p>
          <a:p>
            <a:pPr marL="0" indent="0"/>
            <a:endParaRPr lang="es-MX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Silverman:</a:t>
            </a:r>
          </a:p>
          <a:p>
            <a:pPr marL="0" indent="0"/>
            <a:endParaRPr lang="es-MX" sz="1600" dirty="0"/>
          </a:p>
          <a:p>
            <a:pPr marL="0" indent="0"/>
            <a:endParaRPr lang="es-MX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/>
              <a:t>Gaussian:</a:t>
            </a:r>
            <a:endParaRPr lang="es-CO" sz="16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947680-F945-1A05-24D6-83CDF129324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405370-2371-E5CC-FD09-74BFBDBA47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5BF39A-4639-0534-1B30-02BD0A5839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F0120C2-2FA8-B124-FF6B-52CC173C2FBA}"/>
                  </a:ext>
                </a:extLst>
              </p:cNvPr>
              <p:cNvSpPr txBox="1"/>
              <p:nvPr/>
            </p:nvSpPr>
            <p:spPr>
              <a:xfrm>
                <a:off x="899245" y="951310"/>
                <a:ext cx="4176464" cy="886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f>
                                            <m:fPr>
                                              <m:ctrlP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s-CO" sz="140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d>
                                    </m:e>
                                    <m:sup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num>
                            <m:den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F0120C2-2FA8-B124-FF6B-52CC173C2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245" y="951310"/>
                <a:ext cx="4176464" cy="8862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0305638-FBBE-8369-7C0A-0CB766077C0E}"/>
                  </a:ext>
                </a:extLst>
              </p:cNvPr>
              <p:cNvSpPr txBox="1"/>
              <p:nvPr/>
            </p:nvSpPr>
            <p:spPr>
              <a:xfrm>
                <a:off x="5147369" y="1160891"/>
                <a:ext cx="2016224" cy="590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0305638-FBBE-8369-7C0A-0CB766077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369" y="1160891"/>
                <a:ext cx="2016224" cy="5909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9E0CCA70-39E2-34B9-6900-032ED1DB4F67}"/>
              </a:ext>
            </a:extLst>
          </p:cNvPr>
          <p:cNvSpPr/>
          <p:nvPr/>
        </p:nvSpPr>
        <p:spPr bwMode="auto">
          <a:xfrm>
            <a:off x="3995936" y="1380955"/>
            <a:ext cx="885813" cy="288032"/>
          </a:xfrm>
          <a:prstGeom prst="rightArrow">
            <a:avLst/>
          </a:prstGeom>
          <a:solidFill>
            <a:srgbClr val="26804E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rgbClr val="26804E"/>
              </a:solidFill>
              <a:effectLst/>
              <a:latin typeface="LMU CompatilFac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6E8A3E5-05F5-C5ED-8CC5-A37B8B97728D}"/>
                  </a:ext>
                </a:extLst>
              </p:cNvPr>
              <p:cNvSpPr txBox="1"/>
              <p:nvPr/>
            </p:nvSpPr>
            <p:spPr>
              <a:xfrm>
                <a:off x="1994643" y="1917326"/>
                <a:ext cx="2016224" cy="747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MX" sz="1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𝑘𝑠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sSub>
                                <m:sSub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nary>
                                <m:naryPr>
                                  <m:chr m:val="∑"/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6E8A3E5-05F5-C5ED-8CC5-A37B8B977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643" y="1917326"/>
                <a:ext cx="2016224" cy="747320"/>
              </a:xfrm>
              <a:prstGeom prst="rect">
                <a:avLst/>
              </a:prstGeom>
              <a:blipFill>
                <a:blip r:embed="rId4"/>
                <a:stretch>
                  <a:fillRect r="-2356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B3BF50A-4ACF-4B74-8D09-F4B31F6A50D9}"/>
                  </a:ext>
                </a:extLst>
              </p:cNvPr>
              <p:cNvSpPr txBox="1"/>
              <p:nvPr/>
            </p:nvSpPr>
            <p:spPr>
              <a:xfrm>
                <a:off x="1907704" y="2912985"/>
                <a:ext cx="2466057" cy="595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bSup>
                                </m:e>
                              </m:nary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bSup>
                            </m:num>
                            <m:den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7B3BF50A-4ACF-4B74-8D09-F4B31F6A50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704" y="2912985"/>
                <a:ext cx="2466057" cy="595035"/>
              </a:xfrm>
              <a:prstGeom prst="rect">
                <a:avLst/>
              </a:prstGeom>
              <a:blipFill>
                <a:blip r:embed="rId5"/>
                <a:stretch>
                  <a:fillRect r="-3490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4959A9B-9948-3C01-C6F2-19F4BB428FE3}"/>
                  </a:ext>
                </a:extLst>
              </p:cNvPr>
              <p:cNvSpPr txBox="1"/>
              <p:nvPr/>
            </p:nvSpPr>
            <p:spPr>
              <a:xfrm>
                <a:off x="2267744" y="3615156"/>
                <a:ext cx="2353852" cy="800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𝛼𝜙</m:t>
                          </m:r>
                        </m:num>
                        <m:den>
                          <m:r>
                            <a:rPr lang="es-CO" sz="14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s-CO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sz="14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s-CO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CO" sz="1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sz="14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</m:e>
                          </m:d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s-CO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s-CO" sz="140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  <m:t>𝛽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num>
                                        <m:den>
                                          <m:r>
                                            <a:rPr lang="es-CO" sz="140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s-CO" sz="140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sup>
                                          </m:sSubSup>
                                        </m:den>
                                      </m:f>
                                    </m:sup>
                                  </m:sSup>
                                </m:e>
                              </m:nary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sup>
                              </m:sSup>
                              <m:r>
                                <a:rPr lang="es-CO" sz="140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num>
                            <m:den>
                              <m:sSubSup>
                                <m:sSubSupPr>
                                  <m:ctrlP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d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F4959A9B-9948-3C01-C6F2-19F4BB428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744" y="3615156"/>
                <a:ext cx="2353852" cy="800732"/>
              </a:xfrm>
              <a:prstGeom prst="rect">
                <a:avLst/>
              </a:prstGeom>
              <a:blipFill>
                <a:blip r:embed="rId6"/>
                <a:stretch>
                  <a:fillRect r="-751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3915DB3-E19E-36E8-9BA0-49B7C4FC4A0A}"/>
                  </a:ext>
                </a:extLst>
              </p:cNvPr>
              <p:cNvSpPr txBox="1"/>
              <p:nvPr/>
            </p:nvSpPr>
            <p:spPr>
              <a:xfrm>
                <a:off x="5364088" y="3939902"/>
                <a:ext cx="23538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1400" i="1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s-MX" sz="1400" b="0" i="1" smtClean="0">
                          <a:latin typeface="Cambria Math" panose="02040503050406030204" pitchFamily="18" charset="0"/>
                        </a:rPr>
                        <m:t>=1.728</m:t>
                      </m:r>
                    </m:oMath>
                  </m:oMathPara>
                </a14:m>
                <a:endParaRPr lang="es-CO" sz="1400" dirty="0"/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B3915DB3-E19E-36E8-9BA0-49B7C4FC4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4088" y="3939902"/>
                <a:ext cx="2353852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542434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2" grpId="0"/>
      <p:bldP spid="17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 descr="Gráfico, Diagrama&#10;&#10;Descripción generada automáticamente">
            <a:extLst>
              <a:ext uri="{FF2B5EF4-FFF2-40B4-BE49-F238E27FC236}">
                <a16:creationId xmlns:a16="http://schemas.microsoft.com/office/drawing/2014/main" id="{2B069868-3297-6AD9-FF41-9090435C953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63" y="950913"/>
            <a:ext cx="2525713" cy="1862138"/>
          </a:xfrm>
        </p:spPr>
      </p:pic>
      <p:pic>
        <p:nvPicPr>
          <p:cNvPr id="10" name="Imagen 9" descr="Gráfico&#10;&#10;Descripción generada automáticamente">
            <a:extLst>
              <a:ext uri="{FF2B5EF4-FFF2-40B4-BE49-F238E27FC236}">
                <a16:creationId xmlns:a16="http://schemas.microsoft.com/office/drawing/2014/main" id="{DB1A69B0-C578-5516-CEA6-D0116A7191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717" y="2854771"/>
            <a:ext cx="2517775" cy="1855788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A846FAA-1973-8EA0-542C-1DEBFD6D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MX" dirty="0" err="1"/>
              <a:t>Simulation</a:t>
            </a:r>
            <a:r>
              <a:rPr lang="es-MX" dirty="0"/>
              <a:t> 2D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0CA5C41-F4D8-7FF2-CB3B-646BDE61C80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8455082-48AB-4AE7-9394-121B55A78183}" type="datetime1">
              <a:rPr lang="de-DE" smtClean="0"/>
              <a:pPr>
                <a:spcAft>
                  <a:spcPts val="600"/>
                </a:spcAft>
              </a:pPr>
              <a:t>13.10.2022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272614-5987-7375-B7A1-F030BC5DF20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E50AE0-FD81-77EA-DDCD-6E3D1277A4A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2DA2AC-E7EE-4440-A9FC-EA69DD8DEDDD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pic>
        <p:nvPicPr>
          <p:cNvPr id="7" name="Imagen 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E884A7F3-11BA-DAFF-F8D7-4DF004DE70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6208" y="889580"/>
            <a:ext cx="2725603" cy="1980877"/>
          </a:xfrm>
          <a:prstGeom prst="rect">
            <a:avLst/>
          </a:prstGeom>
        </p:spPr>
      </p:pic>
      <p:pic>
        <p:nvPicPr>
          <p:cNvPr id="11" name="Imagen 10" descr="Gráfico&#10;&#10;Descripción generada automáticamente">
            <a:extLst>
              <a:ext uri="{FF2B5EF4-FFF2-40B4-BE49-F238E27FC236}">
                <a16:creationId xmlns:a16="http://schemas.microsoft.com/office/drawing/2014/main" id="{BFDCCC91-4DAC-C646-48BF-A2179A7981B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063" y="2847352"/>
            <a:ext cx="2525713" cy="1878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291054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Marcador de contenido 7" descr="Gráfico, Diagrama&#10;&#10;Descripción generada automáticamente">
            <a:extLst>
              <a:ext uri="{FF2B5EF4-FFF2-40B4-BE49-F238E27FC236}">
                <a16:creationId xmlns:a16="http://schemas.microsoft.com/office/drawing/2014/main" id="{6A2C90CD-350F-4BE4-54C1-2220FB7B730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300" y="950913"/>
            <a:ext cx="2519363" cy="1858963"/>
          </a:xfrm>
        </p:spPr>
      </p:pic>
      <p:pic>
        <p:nvPicPr>
          <p:cNvPr id="10" name="Imagen 9" descr="Gráfico&#10;&#10;Descripción generada automáticamente">
            <a:extLst>
              <a:ext uri="{FF2B5EF4-FFF2-40B4-BE49-F238E27FC236}">
                <a16:creationId xmlns:a16="http://schemas.microsoft.com/office/drawing/2014/main" id="{72B67DCE-E68A-7A48-3BD4-7BB66C0A2F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5877" y="2920270"/>
            <a:ext cx="2522538" cy="185896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87ADDB6-6E5E-F488-EAE6-039496229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432941"/>
            <a:ext cx="5141143" cy="270030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s-MX" dirty="0" err="1"/>
              <a:t>Simulation</a:t>
            </a:r>
            <a:r>
              <a:rPr lang="es-MX" dirty="0"/>
              <a:t> 3D</a:t>
            </a:r>
            <a:endParaRPr lang="es-CO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5BDFF2-8405-7D04-BB5C-1FC4CF6753E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50825" y="4767263"/>
            <a:ext cx="1279054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8455082-48AB-4AE7-9394-121B55A78183}" type="datetime1">
              <a:rPr lang="de-DE" smtClean="0"/>
              <a:pPr>
                <a:spcAft>
                  <a:spcPts val="600"/>
                </a:spcAft>
              </a:pPr>
              <a:t>13.10.2022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185C57-64F2-16F7-2F43-DBB06C5AF3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91680" y="4767263"/>
            <a:ext cx="6264696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DF876E-60BC-AA67-FBF6-EFC04297F6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118177" y="4767262"/>
            <a:ext cx="774998" cy="27463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2DA2AC-E7EE-4440-A9FC-EA69DD8DEDD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pic>
        <p:nvPicPr>
          <p:cNvPr id="7" name="Imagen 6" descr="Gráfico, Gráfico de dispersión&#10;&#10;Descripción generada automáticamente">
            <a:extLst>
              <a:ext uri="{FF2B5EF4-FFF2-40B4-BE49-F238E27FC236}">
                <a16:creationId xmlns:a16="http://schemas.microsoft.com/office/drawing/2014/main" id="{3DDB6301-9562-64E5-C85F-A1F8FDDAB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1699" y="877717"/>
            <a:ext cx="2696716" cy="2005354"/>
          </a:xfrm>
          <a:prstGeom prst="rect">
            <a:avLst/>
          </a:prstGeom>
        </p:spPr>
      </p:pic>
      <p:pic>
        <p:nvPicPr>
          <p:cNvPr id="11" name="Imagen 10" descr="Gráfico&#10;&#10;Descripción generada automáticamente">
            <a:extLst>
              <a:ext uri="{FF2B5EF4-FFF2-40B4-BE49-F238E27FC236}">
                <a16:creationId xmlns:a16="http://schemas.microsoft.com/office/drawing/2014/main" id="{3AFA65AA-291D-196F-9A6A-EEC4FB7A3E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9526" y="2920270"/>
            <a:ext cx="2586881" cy="192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210181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FB8B80-0FCF-D550-12DE-0A713CF1A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Comparison</a:t>
            </a:r>
            <a:r>
              <a:rPr lang="es-MX" dirty="0"/>
              <a:t> 2D vs 3D</a:t>
            </a:r>
            <a:endParaRPr lang="es-CO" dirty="0"/>
          </a:p>
        </p:txBody>
      </p:sp>
      <p:pic>
        <p:nvPicPr>
          <p:cNvPr id="8" name="Marcador de contenido 7" descr="Gráfico&#10;&#10;Descripción generada automáticamente">
            <a:extLst>
              <a:ext uri="{FF2B5EF4-FFF2-40B4-BE49-F238E27FC236}">
                <a16:creationId xmlns:a16="http://schemas.microsoft.com/office/drawing/2014/main" id="{D9CE9CD9-B25C-2911-B972-8E91449718D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032" y="1491630"/>
            <a:ext cx="3776968" cy="2808660"/>
          </a:xfr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133248-C912-5496-CB27-CCCAD873AD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5B84D7-5CC6-D309-9F21-9711880E1C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C83914-20A8-85B7-010A-4A1D6EF8B23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13</a:t>
            </a:fld>
            <a:endParaRPr lang="en-US"/>
          </a:p>
        </p:txBody>
      </p:sp>
      <p:pic>
        <p:nvPicPr>
          <p:cNvPr id="10" name="Imagen 9" descr="Gráfico&#10;&#10;Descripción generada automáticamente">
            <a:extLst>
              <a:ext uri="{FF2B5EF4-FFF2-40B4-BE49-F238E27FC236}">
                <a16:creationId xmlns:a16="http://schemas.microsoft.com/office/drawing/2014/main" id="{B1F1E0CF-8DB8-249E-D53B-2F12EB3A52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491630"/>
            <a:ext cx="3776969" cy="280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20806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1A7C7C-F219-6BE2-E86E-C92EC766B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Cornell Box</a:t>
            </a:r>
            <a:endParaRPr lang="es-CO" dirty="0"/>
          </a:p>
        </p:txBody>
      </p:sp>
      <p:pic>
        <p:nvPicPr>
          <p:cNvPr id="8" name="Marcador de contenido 7" descr="Imagen en blanco y negro de una puerta&#10;&#10;Descripción generada automáticamente con confianza media">
            <a:extLst>
              <a:ext uri="{FF2B5EF4-FFF2-40B4-BE49-F238E27FC236}">
                <a16:creationId xmlns:a16="http://schemas.microsoft.com/office/drawing/2014/main" id="{4A9D59AB-3CCD-1006-5002-D360FDA0FEC4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987574"/>
            <a:ext cx="2952328" cy="2952328"/>
          </a:xfr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8F3B7E-3EAE-9039-27F9-8FE47799EF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00882A-FAC3-FE2A-0353-2A724C50D6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2617B6-2F06-5456-E022-7A3B587C9E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14</a:t>
            </a:fld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3BD219FD-BA30-9BB0-7B0D-6BE606B80546}"/>
              </a:ext>
            </a:extLst>
          </p:cNvPr>
          <p:cNvSpPr txBox="1"/>
          <p:nvPr/>
        </p:nvSpPr>
        <p:spPr>
          <a:xfrm>
            <a:off x="3563888" y="4066441"/>
            <a:ext cx="41044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Illustration of Cornell Box scene.</a:t>
            </a:r>
            <a:endParaRPr lang="es-CO" sz="8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30B551-5E35-4BCB-84EC-F64C037D3BB4}"/>
              </a:ext>
            </a:extLst>
          </p:cNvPr>
          <p:cNvSpPr txBox="1"/>
          <p:nvPr/>
        </p:nvSpPr>
        <p:spPr>
          <a:xfrm>
            <a:off x="395536" y="4066441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Original </a:t>
            </a:r>
            <a:r>
              <a:rPr lang="es-MX" sz="800" dirty="0" err="1"/>
              <a:t>code</a:t>
            </a:r>
            <a:r>
              <a:rPr lang="es-MX" sz="800" dirty="0"/>
              <a:t> </a:t>
            </a:r>
            <a:r>
              <a:rPr lang="es-MX" sz="800" dirty="0" err="1"/>
              <a:t>for</a:t>
            </a:r>
            <a:r>
              <a:rPr lang="es-MX" sz="800" dirty="0"/>
              <a:t> a </a:t>
            </a:r>
            <a:r>
              <a:rPr lang="es-MX" sz="800" dirty="0" err="1"/>
              <a:t>constant</a:t>
            </a:r>
            <a:r>
              <a:rPr lang="es-MX" sz="800" dirty="0"/>
              <a:t> </a:t>
            </a:r>
            <a:r>
              <a:rPr lang="es-MX" sz="800" dirty="0" err="1"/>
              <a:t>kernel</a:t>
            </a:r>
            <a:r>
              <a:rPr lang="es-MX" sz="800" dirty="0"/>
              <a:t> and </a:t>
            </a:r>
            <a:r>
              <a:rPr lang="es-MX" sz="800" dirty="0" err="1"/>
              <a:t>random</a:t>
            </a:r>
            <a:r>
              <a:rPr lang="es-MX" sz="800" dirty="0"/>
              <a:t> </a:t>
            </a:r>
            <a:r>
              <a:rPr lang="es-MX" sz="800" dirty="0" err="1"/>
              <a:t>sampling</a:t>
            </a:r>
            <a:r>
              <a:rPr lang="es-MX" sz="800" dirty="0"/>
              <a:t> </a:t>
            </a:r>
            <a:r>
              <a:rPr lang="es-MX" sz="800" dirty="0" err="1"/>
              <a:t>was</a:t>
            </a:r>
            <a:r>
              <a:rPr lang="es-MX" sz="800" dirty="0"/>
              <a:t> </a:t>
            </a:r>
            <a:r>
              <a:rPr lang="es-MX" sz="800" dirty="0" err="1"/>
              <a:t>provided</a:t>
            </a:r>
            <a:r>
              <a:rPr lang="es-MX" sz="800" dirty="0"/>
              <a:t> </a:t>
            </a:r>
            <a:r>
              <a:rPr lang="es-MX" sz="800" dirty="0" err="1"/>
              <a:t>by</a:t>
            </a:r>
            <a:r>
              <a:rPr lang="es-MX" sz="800" dirty="0"/>
              <a:t> </a:t>
            </a:r>
          </a:p>
          <a:p>
            <a:r>
              <a:rPr lang="es-MX" sz="800" dirty="0"/>
              <a:t>Dr. Rubén García.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3725205933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396BAA-1BFC-819C-DE62-6621DA00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Stratification</a:t>
            </a:r>
            <a:r>
              <a:rPr lang="es-MX" dirty="0"/>
              <a:t> </a:t>
            </a:r>
            <a:r>
              <a:rPr lang="es-MX" dirty="0" err="1"/>
              <a:t>strategies</a:t>
            </a:r>
            <a:endParaRPr lang="es-CO" dirty="0"/>
          </a:p>
        </p:txBody>
      </p:sp>
      <p:pic>
        <p:nvPicPr>
          <p:cNvPr id="8" name="Marcador de contenido 7" descr="Calendario&#10;&#10;Descripción generada automáticamente">
            <a:extLst>
              <a:ext uri="{FF2B5EF4-FFF2-40B4-BE49-F238E27FC236}">
                <a16:creationId xmlns:a16="http://schemas.microsoft.com/office/drawing/2014/main" id="{57D79907-1267-C376-6D4E-D00D23B06ED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1491630"/>
            <a:ext cx="2240714" cy="2232596"/>
          </a:xfr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21382E-A1C6-1F7D-3234-641A1427AA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A27570-815B-7D3C-8C01-1E27F7929C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24227C-8192-B1E5-5F6E-E6CE68693B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15</a:t>
            </a:fld>
            <a:endParaRPr lang="en-US"/>
          </a:p>
        </p:txBody>
      </p:sp>
      <p:pic>
        <p:nvPicPr>
          <p:cNvPr id="10" name="Imagen 9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FDE765E1-2B98-499E-6DF9-31F7F13B61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136443"/>
            <a:ext cx="2463114" cy="2666028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BC2D47C3-0978-DC25-A87B-DB6C8AB1EFF3}"/>
              </a:ext>
            </a:extLst>
          </p:cNvPr>
          <p:cNvSpPr txBox="1"/>
          <p:nvPr/>
        </p:nvSpPr>
        <p:spPr>
          <a:xfrm>
            <a:off x="2051720" y="3802471"/>
            <a:ext cx="24567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Square strategy</a:t>
            </a:r>
            <a:endParaRPr lang="es-CO" sz="80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55AEFBE7-EB5F-7C1B-1C0C-D0DF218987CB}"/>
              </a:ext>
            </a:extLst>
          </p:cNvPr>
          <p:cNvSpPr txBox="1"/>
          <p:nvPr/>
        </p:nvSpPr>
        <p:spPr>
          <a:xfrm>
            <a:off x="5802512" y="3804977"/>
            <a:ext cx="20162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800" dirty="0"/>
              <a:t>Disk </a:t>
            </a:r>
            <a:r>
              <a:rPr lang="es-MX" sz="800" dirty="0" err="1"/>
              <a:t>strategy</a:t>
            </a:r>
            <a:endParaRPr lang="es-CO" sz="800" dirty="0"/>
          </a:p>
        </p:txBody>
      </p:sp>
    </p:spTree>
    <p:extLst>
      <p:ext uri="{BB962C8B-B14F-4D97-AF65-F5344CB8AC3E}">
        <p14:creationId xmlns:p14="http://schemas.microsoft.com/office/powerpoint/2010/main" val="1023173368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4A1C3D-8A27-97BB-F228-75DAA512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Simulation</a:t>
            </a:r>
            <a:endParaRPr lang="es-CO" dirty="0"/>
          </a:p>
        </p:txBody>
      </p:sp>
      <p:pic>
        <p:nvPicPr>
          <p:cNvPr id="8" name="Marcador de contenido 7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07CD36E6-BC80-AEF4-42C3-F69AEE8C78D6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8596" y="1008529"/>
            <a:ext cx="2470133" cy="1836861"/>
          </a:xfr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531A24-DB14-9976-21EF-C927B138F9C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62D2AC7-9BA7-C1C0-4D19-9CBE703CF5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2CC7FD-FB83-605F-A0C6-2915598B9C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16</a:t>
            </a:fld>
            <a:endParaRPr lang="en-US"/>
          </a:p>
        </p:txBody>
      </p:sp>
      <p:pic>
        <p:nvPicPr>
          <p:cNvPr id="10" name="Imagen 9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9717E0DC-FF67-75A9-8A27-801057C4FA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398" y="2833609"/>
            <a:ext cx="2528505" cy="1880268"/>
          </a:xfrm>
          <a:prstGeom prst="rect">
            <a:avLst/>
          </a:prstGeom>
        </p:spPr>
      </p:pic>
      <p:pic>
        <p:nvPicPr>
          <p:cNvPr id="12" name="Imagen 11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D4C4C9B7-4802-BCC3-2B39-FCBD6F5CC0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2397" y="986825"/>
            <a:ext cx="2528506" cy="1880268"/>
          </a:xfrm>
          <a:prstGeom prst="rect">
            <a:avLst/>
          </a:prstGeom>
        </p:spPr>
      </p:pic>
      <p:pic>
        <p:nvPicPr>
          <p:cNvPr id="14" name="Imagen 13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7528B5EF-F6F1-9C04-72A1-11114DA398B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703" y="2845390"/>
            <a:ext cx="2528505" cy="1880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9366"/>
      </p:ext>
    </p:extLst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D72A7-46EB-7466-67D7-AFB560B85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Simulation</a:t>
            </a:r>
            <a:endParaRPr lang="es-CO" dirty="0"/>
          </a:p>
        </p:txBody>
      </p:sp>
      <p:pic>
        <p:nvPicPr>
          <p:cNvPr id="8" name="Marcador de contenido 7" descr="Gráfico, Gráfico de líneas&#10;&#10;Descripción generada automáticamente">
            <a:extLst>
              <a:ext uri="{FF2B5EF4-FFF2-40B4-BE49-F238E27FC236}">
                <a16:creationId xmlns:a16="http://schemas.microsoft.com/office/drawing/2014/main" id="{88F25FD8-580D-09C5-048F-FA7D32C865D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956506"/>
            <a:ext cx="5085101" cy="3781425"/>
          </a:xfrm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622EA-D128-1EF1-B67A-E3EA6FE4BB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FC175-10BC-8693-A297-2E53535FD3B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DD5F6-44C3-C693-9487-D6E1C91088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708001"/>
      </p:ext>
    </p:extLst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F3E9B-365A-6E96-4BD4-AA6E7FA44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Conclusions</a:t>
            </a:r>
            <a:r>
              <a:rPr lang="es-MX" dirty="0"/>
              <a:t> and future </a:t>
            </a:r>
            <a:r>
              <a:rPr lang="es-MX" dirty="0" err="1"/>
              <a:t>work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25A849-34DA-325C-D61A-FA511CB0B1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/>
            <a:r>
              <a:rPr lang="en-US" sz="1800" dirty="0">
                <a:solidFill>
                  <a:srgbClr val="26804E"/>
                </a:solidFill>
              </a:rPr>
              <a:t>Conclusions: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elimination of the biases with kernels.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Reduction of the biases when using kernels.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Improvement in standard deviation with disk and combined strategies.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Not clear improvement with the square strategy.</a:t>
            </a:r>
            <a:endParaRPr lang="en-US" sz="1800" dirty="0">
              <a:solidFill>
                <a:srgbClr val="26804E"/>
              </a:solidFill>
            </a:endParaRPr>
          </a:p>
          <a:p>
            <a:pPr marL="0" indent="0"/>
            <a:endParaRPr lang="en-US" sz="1800" dirty="0">
              <a:solidFill>
                <a:srgbClr val="26804E"/>
              </a:solidFill>
            </a:endParaRPr>
          </a:p>
          <a:p>
            <a:pPr marL="0" indent="0"/>
            <a:r>
              <a:rPr lang="en-US" sz="1800" dirty="0">
                <a:solidFill>
                  <a:srgbClr val="26804E"/>
                </a:solidFill>
              </a:rPr>
              <a:t>Future work:</a:t>
            </a: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General solution for the over- and under-estimation biases.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Explanation for the effects of the square strategy.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Disk strategy in other global illumination algorithms.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9C3233-C925-6DD1-25B2-CF86D5021E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B970DC-C9BB-A710-6EB3-C79D156A960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0C10AD-1502-B880-7C7C-DDB540043D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04510"/>
      </p:ext>
    </p:extLst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E853B-950B-7FF0-2DED-5A68531CB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B0AA01-86CC-9B49-3DE8-5EF1C63460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79600" y="2121570"/>
            <a:ext cx="4609207" cy="900360"/>
          </a:xfrm>
        </p:spPr>
        <p:txBody>
          <a:bodyPr/>
          <a:lstStyle/>
          <a:p>
            <a:r>
              <a:rPr lang="es-MX" sz="4400" dirty="0" err="1">
                <a:solidFill>
                  <a:srgbClr val="26804E"/>
                </a:solidFill>
              </a:rPr>
              <a:t>Additional</a:t>
            </a:r>
            <a:r>
              <a:rPr lang="es-MX" sz="4400" dirty="0">
                <a:solidFill>
                  <a:srgbClr val="26804E"/>
                </a:solidFill>
              </a:rPr>
              <a:t> material</a:t>
            </a:r>
            <a:endParaRPr lang="es-CO" sz="4400" dirty="0">
              <a:solidFill>
                <a:srgbClr val="26804E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6DDE1D-BFCE-0B03-ED86-443047B70AD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49C8FE-23D1-7BA0-34A3-ED37992EE10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1198B6-71A5-9938-2B78-E1670D9F3B0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98732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E402B9-39B1-4D0B-1EA6-E57333705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Kernel</a:t>
            </a:r>
            <a:r>
              <a:rPr lang="es-MX" dirty="0"/>
              <a:t> </a:t>
            </a:r>
            <a:r>
              <a:rPr lang="es-MX" dirty="0" err="1"/>
              <a:t>normalization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551B9-48AD-9141-3349-119E2EBD36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176445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Integrate over the area or volume of group of photons.</a:t>
            </a:r>
          </a:p>
          <a:p>
            <a:pPr marL="0" indent="0"/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Depends on the dimension, size and shape of the group of photons.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FFD5CA-D338-2200-071F-49280087360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A895C-225D-FAC9-494E-E427F8281DB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EB262-8A43-9084-BCF0-7B86216659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74897E4-9B9C-D79E-0302-2E6A2C74ADAF}"/>
                  </a:ext>
                </a:extLst>
              </p:cNvPr>
              <p:cNvSpPr txBox="1"/>
              <p:nvPr/>
            </p:nvSpPr>
            <p:spPr>
              <a:xfrm>
                <a:off x="107504" y="2606539"/>
                <a:ext cx="3456384" cy="71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nary>
                          <m:sSub>
                            <m:sSubPr>
                              <m:ctrlPr>
                                <a:rPr lang="es-CO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D74897E4-9B9C-D79E-0302-2E6A2C74A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2606539"/>
                <a:ext cx="3456384" cy="715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D0D840-5034-5F5C-FF70-C563EB7B27DF}"/>
                  </a:ext>
                </a:extLst>
              </p:cNvPr>
              <p:cNvSpPr txBox="1"/>
              <p:nvPr/>
            </p:nvSpPr>
            <p:spPr>
              <a:xfrm>
                <a:off x="467544" y="3624816"/>
                <a:ext cx="4032448" cy="715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p>
                            <m:e>
                              <m:nary>
                                <m:nary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nary>
                              <m:sSubSup>
                                <m:sSubSupPr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func>
                                <m:funcPr>
                                  <m:ctrlP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  <m:r>
                                    <a:rPr lang="es-MX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func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5CD0D840-5034-5F5C-FF70-C563EB7B2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3624816"/>
                <a:ext cx="4032448" cy="715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6552030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0D9EC4-E8B1-117C-0E50-6441FA44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Theoretical</a:t>
            </a:r>
            <a:r>
              <a:rPr lang="es-MX" dirty="0"/>
              <a:t> </a:t>
            </a:r>
            <a:r>
              <a:rPr lang="es-MX" dirty="0" err="1"/>
              <a:t>study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462898-B609-0A2C-A6EE-07E517BECB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82835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Model</a:t>
            </a:r>
            <a:r>
              <a:rPr lang="es-MX" sz="1600" dirty="0">
                <a:solidFill>
                  <a:schemeClr val="tx1"/>
                </a:solidFill>
              </a:rPr>
              <a:t> a </a:t>
            </a:r>
            <a:r>
              <a:rPr lang="es-MX" sz="1600" dirty="0" err="1">
                <a:solidFill>
                  <a:schemeClr val="tx1"/>
                </a:solidFill>
              </a:rPr>
              <a:t>probabilistic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algorithm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by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expected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value</a:t>
            </a:r>
            <a:r>
              <a:rPr lang="es-MX" sz="1600" dirty="0">
                <a:solidFill>
                  <a:schemeClr val="tx1"/>
                </a:solidFill>
              </a:rPr>
              <a:t> E[].</a:t>
            </a: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Calculate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first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i&lt;k and </a:t>
            </a:r>
            <a:r>
              <a:rPr lang="es-MX" sz="1600" dirty="0" err="1">
                <a:solidFill>
                  <a:schemeClr val="tx1"/>
                </a:solidFill>
              </a:rPr>
              <a:t>then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i=k. 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4C42A9-2561-D55B-378B-AFB89F88210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9E46D0-35CC-8EC6-E1B8-4AB3206BD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966410-73E9-2F73-BB30-09A191081C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89C7A6A-63CD-C8B4-823F-EFB79A6B289F}"/>
                  </a:ext>
                </a:extLst>
              </p:cNvPr>
              <p:cNvSpPr txBox="1"/>
              <p:nvPr/>
            </p:nvSpPr>
            <p:spPr>
              <a:xfrm>
                <a:off x="2318035" y="1856614"/>
                <a:ext cx="3600400" cy="6587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it-IT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it-IT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it-IT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it-IT" i="1" smtClean="0">
                          <a:latin typeface="Cambria Math" panose="02040503050406030204" pitchFamily="18" charset="0"/>
                        </a:rPr>
                        <m:t> </m:t>
                      </m:r>
                      <m:r>
                        <a:rPr lang="it-IT" i="1" smtClean="0">
                          <a:latin typeface="Cambria Math" panose="02040503050406030204" pitchFamily="18" charset="0"/>
                        </a:rPr>
                        <m:t>𝑑𝑥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89C7A6A-63CD-C8B4-823F-EFB79A6B2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8035" y="1856614"/>
                <a:ext cx="3600400" cy="65877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CF853DF-75D0-80EC-9FE0-9A90A07F0AD1}"/>
                  </a:ext>
                </a:extLst>
              </p:cNvPr>
              <p:cNvSpPr txBox="1"/>
              <p:nvPr/>
            </p:nvSpPr>
            <p:spPr>
              <a:xfrm>
                <a:off x="2843808" y="3687341"/>
                <a:ext cx="31683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CF853DF-75D0-80EC-9FE0-9A90A07F0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3808" y="3687341"/>
                <a:ext cx="3168352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7751801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5E6C69-F76C-3EEE-4682-2BDD4C63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Theoretical</a:t>
            </a:r>
            <a:r>
              <a:rPr lang="es-MX" dirty="0"/>
              <a:t> </a:t>
            </a:r>
            <a:r>
              <a:rPr lang="es-MX" dirty="0" err="1"/>
              <a:t>study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74C5B-38A2-9E2A-715E-AEA87CE39D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12328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i&lt;k in 2D:</a:t>
            </a: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probability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density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function</a:t>
            </a:r>
            <a:r>
              <a:rPr lang="es-MX" sz="1600" dirty="0">
                <a:solidFill>
                  <a:schemeClr val="tx1"/>
                </a:solidFill>
              </a:rPr>
              <a:t> in 2D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 :</a:t>
            </a:r>
          </a:p>
          <a:p>
            <a:pPr marL="0" indent="0"/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B71F8-8A5C-9945-DEEE-74CEDDBF5D6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C544BC-E8DA-9EE2-5E77-DF078531FD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DCFB7-2EE2-86A3-88F3-7BC6A3D5E8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E43F3C-CD87-4374-0A73-C820EB6E6039}"/>
                  </a:ext>
                </a:extLst>
              </p:cNvPr>
              <p:cNvSpPr txBox="1"/>
              <p:nvPr/>
            </p:nvSpPr>
            <p:spPr>
              <a:xfrm>
                <a:off x="467544" y="1378218"/>
                <a:ext cx="5112568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Î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𝑋𝑌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7FE43F3C-CD87-4374-0A73-C820EB6E6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1378218"/>
                <a:ext cx="5112568" cy="8769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8D074F7-AB04-CF28-D8D2-EA4F47094C37}"/>
                  </a:ext>
                </a:extLst>
              </p:cNvPr>
              <p:cNvSpPr txBox="1"/>
              <p:nvPr/>
            </p:nvSpPr>
            <p:spPr>
              <a:xfrm>
                <a:off x="179512" y="4083918"/>
                <a:ext cx="5904656" cy="430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t-BR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E8D074F7-AB04-CF28-D8D2-EA4F47094C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4083918"/>
                <a:ext cx="5904656" cy="4303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F93F98-12CF-F597-71FD-6380AF5B51F9}"/>
                  </a:ext>
                </a:extLst>
              </p:cNvPr>
              <p:cNvSpPr txBox="1"/>
              <p:nvPr/>
            </p:nvSpPr>
            <p:spPr>
              <a:xfrm>
                <a:off x="395536" y="2668297"/>
                <a:ext cx="4986337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Î</m:t>
                                  </m:r>
                                </m:e>
                                <m: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sSub>
                                <m:sSub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𝑋𝑌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s-CO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CO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s-CO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F93F98-12CF-F597-71FD-6380AF5B5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668297"/>
                <a:ext cx="4986337" cy="7629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o 11">
            <a:extLst>
              <a:ext uri="{FF2B5EF4-FFF2-40B4-BE49-F238E27FC236}">
                <a16:creationId xmlns:a16="http://schemas.microsoft.com/office/drawing/2014/main" id="{DBDA4442-0919-F155-3D82-7335594C66A2}"/>
              </a:ext>
            </a:extLst>
          </p:cNvPr>
          <p:cNvGrpSpPr/>
          <p:nvPr/>
        </p:nvGrpSpPr>
        <p:grpSpPr>
          <a:xfrm>
            <a:off x="6092656" y="1086917"/>
            <a:ext cx="2502409" cy="449233"/>
            <a:chOff x="539063" y="3274889"/>
            <a:chExt cx="2502409" cy="44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54DD7E1-DAB3-C47D-F484-A744C1432B42}"/>
                    </a:ext>
                  </a:extLst>
                </p:cNvPr>
                <p:cNvSpPr txBox="1"/>
                <p:nvPr/>
              </p:nvSpPr>
              <p:spPr>
                <a:xfrm>
                  <a:off x="953240" y="3274889"/>
                  <a:ext cx="2088232" cy="427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CO" i="1" smtClean="0">
                            <a:latin typeface="Cambria Math" panose="02040503050406030204" pitchFamily="18" charset="0"/>
                          </a:rPr>
                          <m:t>𝑡</m:t>
                        </m:r>
                        <m:d>
                          <m:dPr>
                            <m:ctrlPr>
                              <a:rPr lang="es-CO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s-CO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s-CO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lit/>
                              </m:rPr>
                              <a:rPr lang="es-CO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s-CO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654DD7E1-DAB3-C47D-F484-A744C1432B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240" y="3274889"/>
                  <a:ext cx="2088232" cy="427746"/>
                </a:xfrm>
                <a:prstGeom prst="rect">
                  <a:avLst/>
                </a:prstGeom>
                <a:blipFill>
                  <a:blip r:embed="rId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12018F31-4AFF-38FF-8BC2-D94CF70EFC3D}"/>
                </a:ext>
              </a:extLst>
            </p:cNvPr>
            <p:cNvSpPr txBox="1"/>
            <p:nvPr/>
          </p:nvSpPr>
          <p:spPr>
            <a:xfrm>
              <a:off x="539063" y="3354790"/>
              <a:ext cx="7378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26804E"/>
                  </a:solidFill>
                </a:rPr>
                <a:t>2D</a:t>
              </a:r>
              <a:endParaRPr lang="es-CO" dirty="0">
                <a:solidFill>
                  <a:srgbClr val="26804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577046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20868-FF97-F4A7-A728-8F3A7CD19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Theoretical</a:t>
            </a:r>
            <a:r>
              <a:rPr lang="es-MX" dirty="0"/>
              <a:t> </a:t>
            </a:r>
            <a:r>
              <a:rPr lang="es-MX" dirty="0" err="1"/>
              <a:t>study</a:t>
            </a:r>
            <a:br>
              <a:rPr lang="es-MX" dirty="0"/>
            </a:b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865C2-9D16-6D98-934E-EB00A007D3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84336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i=k  in 2D: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probability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density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function</a:t>
            </a:r>
            <a:r>
              <a:rPr lang="es-MX" sz="1600" dirty="0">
                <a:solidFill>
                  <a:schemeClr val="tx1"/>
                </a:solidFill>
              </a:rPr>
              <a:t> in 2D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B6B163-2CF9-A721-D75F-F86CEBB22DB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44CE54-392C-0582-4DEE-A369249DEEA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FA5AF0-41FA-BC79-F3CF-D149F77206F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2024DE6-F5D5-F817-7412-5F190C030319}"/>
                  </a:ext>
                </a:extLst>
              </p:cNvPr>
              <p:cNvSpPr txBox="1"/>
              <p:nvPr/>
            </p:nvSpPr>
            <p:spPr>
              <a:xfrm>
                <a:off x="228913" y="1419622"/>
                <a:ext cx="4104456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2024DE6-F5D5-F817-7412-5F190C030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913" y="1419622"/>
                <a:ext cx="4104456" cy="7629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E20643F-F0B3-3592-A9EE-BEAE32A23835}"/>
                  </a:ext>
                </a:extLst>
              </p:cNvPr>
              <p:cNvSpPr txBox="1"/>
              <p:nvPr/>
            </p:nvSpPr>
            <p:spPr>
              <a:xfrm>
                <a:off x="-180528" y="3733517"/>
                <a:ext cx="3384376" cy="4247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=2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pt-BR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E20643F-F0B3-3592-A9EE-BEAE32A238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0528" y="3733517"/>
                <a:ext cx="3384376" cy="4247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173317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4F726-0FD5-ACCB-D997-093E21BC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Theoretical</a:t>
            </a:r>
            <a:r>
              <a:rPr lang="es-MX" dirty="0"/>
              <a:t> </a:t>
            </a:r>
            <a:r>
              <a:rPr lang="es-MX" dirty="0" err="1"/>
              <a:t>study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DDDF63-4375-63EC-AFCA-592F01E60E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123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i&lt;k in 3D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 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probability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density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function</a:t>
            </a:r>
            <a:r>
              <a:rPr lang="es-MX" sz="1600" dirty="0">
                <a:solidFill>
                  <a:schemeClr val="tx1"/>
                </a:solidFill>
              </a:rPr>
              <a:t> in 3D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 :</a:t>
            </a: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0ACF22-4CC1-D576-0CD8-DF768891380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B6FB09-BF36-8DBA-17B7-2031F589906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2BCBEA-676C-977A-6A59-0F051AD1611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8B89C0-1033-2F3A-B94A-E43061A0CCB3}"/>
                  </a:ext>
                </a:extLst>
              </p:cNvPr>
              <p:cNvSpPr txBox="1"/>
              <p:nvPr/>
            </p:nvSpPr>
            <p:spPr>
              <a:xfrm>
                <a:off x="359532" y="1470219"/>
                <a:ext cx="5688632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  <m:e/>
                          </m:nary>
                          <m:acc>
                            <m:accPr>
                              <m:chr m:val="̂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E58B89C0-1033-2F3A-B94A-E43061A0CC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32" y="1470219"/>
                <a:ext cx="5688632" cy="7629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2F8196CB-EAAA-E87A-E9AC-F76EAB12AAD0}"/>
              </a:ext>
            </a:extLst>
          </p:cNvPr>
          <p:cNvSpPr/>
          <p:nvPr/>
        </p:nvSpPr>
        <p:spPr bwMode="auto">
          <a:xfrm>
            <a:off x="2799530" y="1700059"/>
            <a:ext cx="288032" cy="30322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5530F2F-B2D3-FA32-5085-8EB9307469F2}"/>
              </a:ext>
            </a:extLst>
          </p:cNvPr>
          <p:cNvSpPr/>
          <p:nvPr/>
        </p:nvSpPr>
        <p:spPr bwMode="auto">
          <a:xfrm>
            <a:off x="2726738" y="1675447"/>
            <a:ext cx="360040" cy="445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4838CD6-EF4D-9989-C599-D809D2D1F9DA}"/>
                  </a:ext>
                </a:extLst>
              </p:cNvPr>
              <p:cNvSpPr txBox="1"/>
              <p:nvPr/>
            </p:nvSpPr>
            <p:spPr>
              <a:xfrm>
                <a:off x="107504" y="3360091"/>
                <a:ext cx="5049800" cy="439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=9</m:t>
                      </m:r>
                      <m:sSup>
                        <m:s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Sup>
                        <m:sSub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C4838CD6-EF4D-9989-C599-D809D2D1F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360091"/>
                <a:ext cx="5049800" cy="4395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upo 12">
            <a:extLst>
              <a:ext uri="{FF2B5EF4-FFF2-40B4-BE49-F238E27FC236}">
                <a16:creationId xmlns:a16="http://schemas.microsoft.com/office/drawing/2014/main" id="{46B0B6F5-C1DB-5378-B724-644107413EE0}"/>
              </a:ext>
            </a:extLst>
          </p:cNvPr>
          <p:cNvGrpSpPr/>
          <p:nvPr/>
        </p:nvGrpSpPr>
        <p:grpSpPr>
          <a:xfrm>
            <a:off x="6228184" y="1025095"/>
            <a:ext cx="2484049" cy="427746"/>
            <a:chOff x="557423" y="4011470"/>
            <a:chExt cx="2484049" cy="4277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7D0912C3-9829-A594-FBCF-0AC76A3B4024}"/>
                    </a:ext>
                  </a:extLst>
                </p:cNvPr>
                <p:cNvSpPr txBox="1"/>
                <p:nvPr/>
              </p:nvSpPr>
              <p:spPr>
                <a:xfrm>
                  <a:off x="953240" y="4011470"/>
                  <a:ext cx="2088232" cy="42774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nn-NO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ctrlPr>
                              <a:rPr lang="nn-NO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g>
                          <m:e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lit/>
                              </m:rPr>
                              <a:rPr lang="nn-NO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nn-NO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oMath>
                    </m:oMathPara>
                  </a14:m>
                  <a:endParaRPr lang="es-CO" dirty="0"/>
                </a:p>
              </p:txBody>
            </p:sp>
          </mc:Choice>
          <mc:Fallback xmlns="">
            <p:sp>
              <p:nvSpPr>
                <p:cNvPr id="14" name="CuadroTexto 13">
                  <a:extLst>
                    <a:ext uri="{FF2B5EF4-FFF2-40B4-BE49-F238E27FC236}">
                      <a16:creationId xmlns:a16="http://schemas.microsoft.com/office/drawing/2014/main" id="{7D0912C3-9829-A594-FBCF-0AC76A3B40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3240" y="4011470"/>
                  <a:ext cx="2088232" cy="427746"/>
                </a:xfrm>
                <a:prstGeom prst="rect">
                  <a:avLst/>
                </a:prstGeom>
                <a:blipFill>
                  <a:blip r:embed="rId4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17CD25A0-CD35-4744-5404-664EF0E24DBA}"/>
                </a:ext>
              </a:extLst>
            </p:cNvPr>
            <p:cNvSpPr txBox="1"/>
            <p:nvPr/>
          </p:nvSpPr>
          <p:spPr>
            <a:xfrm>
              <a:off x="557423" y="4040677"/>
              <a:ext cx="6480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dirty="0">
                  <a:solidFill>
                    <a:srgbClr val="26804E"/>
                  </a:solidFill>
                </a:rPr>
                <a:t>3D</a:t>
              </a:r>
              <a:endParaRPr lang="es-CO" dirty="0">
                <a:solidFill>
                  <a:srgbClr val="26804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650248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1E9153-A67D-963D-1927-4D787298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Theoretical</a:t>
            </a:r>
            <a:r>
              <a:rPr lang="es-MX" dirty="0"/>
              <a:t> </a:t>
            </a:r>
            <a:r>
              <a:rPr lang="es-MX" dirty="0" err="1"/>
              <a:t>study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FC8AFD-DBE2-0280-AE92-8B79346D99B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39630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i=k  in 3D: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probability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density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function</a:t>
            </a:r>
            <a:r>
              <a:rPr lang="es-MX" sz="1600" dirty="0">
                <a:solidFill>
                  <a:schemeClr val="tx1"/>
                </a:solidFill>
              </a:rPr>
              <a:t> in 3D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  <a:endParaRPr lang="es-CO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CO" sz="16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9EE3DC-6794-AD9D-2C69-1A31C5FD942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9A7757-599E-B65E-6B46-0F90BBB554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D8532D-FFF6-09A0-8342-45E66E54EB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B84978-DD5D-21D7-7423-F55B657A3A39}"/>
                  </a:ext>
                </a:extLst>
              </p:cNvPr>
              <p:cNvSpPr txBox="1"/>
              <p:nvPr/>
            </p:nvSpPr>
            <p:spPr>
              <a:xfrm>
                <a:off x="539552" y="1563638"/>
                <a:ext cx="3816424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acc>
                            <m:accPr>
                              <m:chr m:val="̂"/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acc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56B84978-DD5D-21D7-7423-F55B657A3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63638"/>
                <a:ext cx="3816424" cy="7629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6C5B784-78B0-93F3-895E-895BA6FF22DC}"/>
                  </a:ext>
                </a:extLst>
              </p:cNvPr>
              <p:cNvSpPr txBox="1"/>
              <p:nvPr/>
            </p:nvSpPr>
            <p:spPr>
              <a:xfrm>
                <a:off x="-108520" y="3383916"/>
                <a:ext cx="3312368" cy="437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</m:sub>
                          </m:sSub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=3</m:t>
                      </m:r>
                      <m:sSubSup>
                        <m:sSubSup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pt-BR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06C5B784-78B0-93F3-895E-895BA6FF2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8520" y="3383916"/>
                <a:ext cx="3312368" cy="4375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71744231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04C69-5202-FA33-7FD5-66794358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2D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80221-10B9-6B57-4930-741366FDBB3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123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normalized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Epanechnikov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kernel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a disk </a:t>
            </a:r>
            <a:r>
              <a:rPr lang="es-MX" sz="1600" dirty="0" err="1">
                <a:solidFill>
                  <a:schemeClr val="tx1"/>
                </a:solidFill>
              </a:rPr>
              <a:t>of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radius</a:t>
            </a:r>
            <a:r>
              <a:rPr lang="es-MX" sz="1600" dirty="0">
                <a:solidFill>
                  <a:schemeClr val="tx1"/>
                </a:solidFill>
              </a:rPr>
              <a:t> 1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irradiance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estimate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7184639-0CF3-128F-29C1-4624B4E9E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99FD97-BF2D-507C-7832-35DEF62ABC8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08E341-6B62-2BA9-FF83-4FE73665CF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389221-E4AC-D352-248F-FF63DF4B07A7}"/>
                  </a:ext>
                </a:extLst>
              </p:cNvPr>
              <p:cNvSpPr txBox="1"/>
              <p:nvPr/>
            </p:nvSpPr>
            <p:spPr>
              <a:xfrm>
                <a:off x="539552" y="1488661"/>
                <a:ext cx="3024336" cy="81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8389221-E4AC-D352-248F-FF63DF4B0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488661"/>
                <a:ext cx="3024336" cy="8161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0EDBDDF-8C54-EDA8-E1D2-91C9BE67078D}"/>
                  </a:ext>
                </a:extLst>
              </p:cNvPr>
              <p:cNvSpPr txBox="1"/>
              <p:nvPr/>
            </p:nvSpPr>
            <p:spPr>
              <a:xfrm>
                <a:off x="611560" y="2931790"/>
                <a:ext cx="3744416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Î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Sup>
                                <m:sSubSup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40EDBDDF-8C54-EDA8-E1D2-91C9BE6707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931790"/>
                <a:ext cx="3744416" cy="876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9496376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D55F7-8CA7-AE39-9E36-41F07323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2D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72A437-DC0C-D03C-6599-15FCF93BAEA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123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contribution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of</a:t>
            </a:r>
            <a:r>
              <a:rPr lang="es-MX" sz="1600" dirty="0">
                <a:solidFill>
                  <a:schemeClr val="tx1"/>
                </a:solidFill>
              </a:rPr>
              <a:t> a </a:t>
            </a:r>
            <a:r>
              <a:rPr lang="es-MX" sz="1600" dirty="0" err="1">
                <a:solidFill>
                  <a:schemeClr val="tx1"/>
                </a:solidFill>
              </a:rPr>
              <a:t>photon</a:t>
            </a:r>
            <a:r>
              <a:rPr lang="es-MX" sz="1600" dirty="0">
                <a:solidFill>
                  <a:schemeClr val="tx1"/>
                </a:solidFill>
              </a:rPr>
              <a:t> i&lt;k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tx1"/>
                </a:solidFill>
              </a:rPr>
              <a:t>The</a:t>
            </a:r>
            <a:r>
              <a:rPr lang="es-CO" sz="1600" dirty="0">
                <a:solidFill>
                  <a:schemeClr val="tx1"/>
                </a:solidFill>
              </a:rPr>
              <a:t> </a:t>
            </a:r>
            <a:r>
              <a:rPr lang="es-CO" sz="1600" dirty="0" err="1">
                <a:solidFill>
                  <a:schemeClr val="tx1"/>
                </a:solidFill>
              </a:rPr>
              <a:t>contribution</a:t>
            </a:r>
            <a:r>
              <a:rPr lang="es-CO" sz="1600" dirty="0">
                <a:solidFill>
                  <a:schemeClr val="tx1"/>
                </a:solidFill>
              </a:rPr>
              <a:t> </a:t>
            </a:r>
            <a:r>
              <a:rPr lang="es-CO" sz="1600" dirty="0" err="1">
                <a:solidFill>
                  <a:schemeClr val="tx1"/>
                </a:solidFill>
              </a:rPr>
              <a:t>of</a:t>
            </a:r>
            <a:r>
              <a:rPr lang="es-CO" sz="1600" dirty="0">
                <a:solidFill>
                  <a:schemeClr val="tx1"/>
                </a:solidFill>
              </a:rPr>
              <a:t> a </a:t>
            </a:r>
            <a:r>
              <a:rPr lang="es-CO" sz="1600" dirty="0" err="1">
                <a:solidFill>
                  <a:schemeClr val="tx1"/>
                </a:solidFill>
              </a:rPr>
              <a:t>photon</a:t>
            </a:r>
            <a:r>
              <a:rPr lang="es-CO" sz="1600" dirty="0">
                <a:solidFill>
                  <a:schemeClr val="tx1"/>
                </a:solidFill>
              </a:rPr>
              <a:t> i=k </a:t>
            </a:r>
            <a:r>
              <a:rPr lang="es-CO" sz="1600" dirty="0" err="1">
                <a:solidFill>
                  <a:schemeClr val="tx1"/>
                </a:solidFill>
              </a:rPr>
              <a:t>is</a:t>
            </a:r>
            <a:r>
              <a:rPr lang="es-CO" sz="1600" dirty="0">
                <a:solidFill>
                  <a:schemeClr val="tx1"/>
                </a:solidFill>
              </a:rPr>
              <a:t>:</a:t>
            </a:r>
            <a:endParaRPr lang="es-MX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6AA1846-77FD-823A-C23D-C77BE035339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2B3203-780C-90F9-5410-CF2DD058EBA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9DB7A7-3EF4-F7AA-265A-E0CF258737E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A26AB2B-86B6-9746-529B-E35209A265F1}"/>
                  </a:ext>
                </a:extLst>
              </p:cNvPr>
              <p:cNvSpPr txBox="1"/>
              <p:nvPr/>
            </p:nvSpPr>
            <p:spPr>
              <a:xfrm>
                <a:off x="250825" y="1596833"/>
                <a:ext cx="3816424" cy="81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	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Î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A26AB2B-86B6-9746-529B-E35209A265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825" y="1596833"/>
                <a:ext cx="3816424" cy="8161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BF834DF-7A86-0F88-ACA5-D1BE0E91F21C}"/>
                  </a:ext>
                </a:extLst>
              </p:cNvPr>
              <p:cNvSpPr txBox="1"/>
              <p:nvPr/>
            </p:nvSpPr>
            <p:spPr>
              <a:xfrm>
                <a:off x="611560" y="3435846"/>
                <a:ext cx="3240360" cy="3783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Î</m:t>
                          </m:r>
                        </m:e>
                        <m:sub>
                          <m:r>
                            <a:rPr lang="pt-B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pt-B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pt-BR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EBF834DF-7A86-0F88-ACA5-D1BE0E91F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3435846"/>
                <a:ext cx="3240360" cy="3783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438172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7EDBA-24A0-567B-6B1C-4C45F6F3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2D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EEC4D1-97A0-1D77-ACC6-9E2093A2BD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61232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i&lt;k: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FC8255-5354-DC37-C707-0F5968A811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F075EF-A7DB-FFB5-5C03-41946268535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84117D-83D7-A9D1-5A37-3C26569869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FCB489-73C7-935A-47F3-3D367CF50FAE}"/>
                  </a:ext>
                </a:extLst>
              </p:cNvPr>
              <p:cNvSpPr txBox="1"/>
              <p:nvPr/>
            </p:nvSpPr>
            <p:spPr>
              <a:xfrm>
                <a:off x="323528" y="1427875"/>
                <a:ext cx="5112568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	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Î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</m:e>
                                    <m: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𝑋𝑌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A7FCB489-73C7-935A-47F3-3D367CF50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1427875"/>
                <a:ext cx="5112568" cy="87690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F45B322-AB6A-E315-BDCD-508853846E88}"/>
                  </a:ext>
                </a:extLst>
              </p:cNvPr>
              <p:cNvSpPr txBox="1"/>
              <p:nvPr/>
            </p:nvSpPr>
            <p:spPr>
              <a:xfrm>
                <a:off x="539552" y="2643758"/>
                <a:ext cx="4464496" cy="1300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nary>
                            <m:nary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sup>
                            <m:e/>
                          </m:nary>
                        </m:e>
                      </m:nary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Î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unc>
                                <m:func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unc>
                                <m:func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F45B322-AB6A-E315-BDCD-508853846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643758"/>
                <a:ext cx="4464496" cy="1300421"/>
              </a:xfrm>
              <a:prstGeom prst="rect">
                <a:avLst/>
              </a:prstGeom>
              <a:blipFill>
                <a:blip r:embed="rId3"/>
                <a:stretch>
                  <a:fillRect r="-3415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id="{5606F997-959C-98A3-61B4-7E6564DA7F54}"/>
              </a:ext>
            </a:extLst>
          </p:cNvPr>
          <p:cNvSpPr/>
          <p:nvPr/>
        </p:nvSpPr>
        <p:spPr bwMode="auto">
          <a:xfrm>
            <a:off x="2051720" y="2859782"/>
            <a:ext cx="216024" cy="26808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MU CompatilFac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46564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C04027-E795-119D-46BC-26EB09C4D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2D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341E81-B420-8B3A-FA27-4449E108655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46831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i=k: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 marL="0" indent="0"/>
            <a:endParaRPr lang="es-MX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We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add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both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results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53E64B4-DD51-322B-A507-0DB4CB8A49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CCADF6-1524-5A83-D589-620C34A508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B03511-5509-E3BD-691D-4D21CBACE3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BD3A922-866A-5314-7AC5-A6F71DEBE11B}"/>
                  </a:ext>
                </a:extLst>
              </p:cNvPr>
              <p:cNvSpPr txBox="1"/>
              <p:nvPr/>
            </p:nvSpPr>
            <p:spPr>
              <a:xfrm>
                <a:off x="417816" y="1423948"/>
                <a:ext cx="4176464" cy="7629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</m:sup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s-CO" i="1" smtClean="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s-CO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ABD3A922-866A-5314-7AC5-A6F71DEBE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16" y="1423948"/>
                <a:ext cx="4176464" cy="7629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4A7F72-BB06-979F-97C6-8A56EC038208}"/>
                  </a:ext>
                </a:extLst>
              </p:cNvPr>
              <p:cNvSpPr txBox="1"/>
              <p:nvPr/>
            </p:nvSpPr>
            <p:spPr>
              <a:xfrm>
                <a:off x="179512" y="3363838"/>
                <a:ext cx="5400600" cy="942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Î</m:t>
                          </m:r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unc>
                                <m:func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func>
                                <m:func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s-CO" i="0" smtClean="0"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914A7F72-BB06-979F-97C6-8A56EC0382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363838"/>
                <a:ext cx="5400600" cy="9425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5874299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1CDFCB-DFEF-9074-B531-C4DCD725C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3D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165CC5E-8BB4-1268-28D0-96FEB63095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54032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normalized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Epanechnikov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kernel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for</a:t>
            </a:r>
            <a:r>
              <a:rPr lang="es-MX" sz="1600" dirty="0">
                <a:solidFill>
                  <a:schemeClr val="tx1"/>
                </a:solidFill>
              </a:rPr>
              <a:t> a </a:t>
            </a:r>
            <a:r>
              <a:rPr lang="es-MX" sz="1600" dirty="0" err="1">
                <a:solidFill>
                  <a:schemeClr val="tx1"/>
                </a:solidFill>
              </a:rPr>
              <a:t>sphere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of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radius</a:t>
            </a:r>
            <a:r>
              <a:rPr lang="es-MX" sz="1600" dirty="0">
                <a:solidFill>
                  <a:schemeClr val="tx1"/>
                </a:solidFill>
              </a:rPr>
              <a:t> 1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power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density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estimate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is</a:t>
            </a:r>
            <a:r>
              <a:rPr lang="es-MX" sz="1600" dirty="0">
                <a:solidFill>
                  <a:schemeClr val="tx1"/>
                </a:solidFill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MX" sz="16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s-CO" sz="1600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5D75C8-C503-4295-EE3B-F0A8BE4555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3681A8-02F8-D8C8-C8BC-61F39CA00F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DCA196-8FD5-9227-B9AB-4A696203D0C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7EF15BD-DED3-4295-DC02-F12E9E4841BD}"/>
                  </a:ext>
                </a:extLst>
              </p:cNvPr>
              <p:cNvSpPr txBox="1"/>
              <p:nvPr/>
            </p:nvSpPr>
            <p:spPr>
              <a:xfrm>
                <a:off x="539552" y="1524665"/>
                <a:ext cx="3168352" cy="816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sSubSup>
                            <m:sSub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bSup>
                        </m:den>
                      </m:f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F7EF15BD-DED3-4295-DC02-F12E9E484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524665"/>
                <a:ext cx="3168352" cy="8161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5F73B5B-3908-7722-F068-028E717412F1}"/>
                  </a:ext>
                </a:extLst>
              </p:cNvPr>
              <p:cNvSpPr txBox="1"/>
              <p:nvPr/>
            </p:nvSpPr>
            <p:spPr>
              <a:xfrm>
                <a:off x="539552" y="3213417"/>
                <a:ext cx="4329720" cy="876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𝑃𝐷</m:t>
                          </m:r>
                        </m:e>
                      </m:acc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f>
                            <m:f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15</m:t>
                              </m:r>
                            </m:num>
                            <m:den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Sup>
                                <m:sSubSup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𝜙</m:t>
                      </m:r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5F73B5B-3908-7722-F068-028E71741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3213417"/>
                <a:ext cx="4329720" cy="8769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1222052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6AB826-7E6D-A20F-897C-FD5FF425E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Example</a:t>
            </a:r>
            <a:r>
              <a:rPr lang="es-MX" dirty="0"/>
              <a:t> </a:t>
            </a:r>
            <a:r>
              <a:rPr lang="es-MX" dirty="0" err="1"/>
              <a:t>Epanechnikov</a:t>
            </a:r>
            <a:r>
              <a:rPr lang="es-MX" dirty="0"/>
              <a:t> </a:t>
            </a:r>
            <a:r>
              <a:rPr lang="es-MX" dirty="0" err="1"/>
              <a:t>kernel</a:t>
            </a:r>
            <a:r>
              <a:rPr lang="es-MX" dirty="0"/>
              <a:t> 3D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32B3C3-B832-DF92-B146-C7195186657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825" y="951310"/>
            <a:ext cx="8642350" cy="82835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tx1"/>
                </a:solidFill>
              </a:rPr>
              <a:t>As in </a:t>
            </a: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2D case, </a:t>
            </a:r>
            <a:r>
              <a:rPr lang="es-MX" sz="1600" dirty="0" err="1">
                <a:solidFill>
                  <a:schemeClr val="tx1"/>
                </a:solidFill>
              </a:rPr>
              <a:t>we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calculate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the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expected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values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separately</a:t>
            </a:r>
            <a:r>
              <a:rPr lang="es-MX" sz="1600" dirty="0">
                <a:solidFill>
                  <a:schemeClr val="tx1"/>
                </a:solidFill>
              </a:rPr>
              <a:t> and </a:t>
            </a:r>
            <a:r>
              <a:rPr lang="es-MX" sz="1600" dirty="0" err="1">
                <a:solidFill>
                  <a:schemeClr val="tx1"/>
                </a:solidFill>
              </a:rPr>
              <a:t>then</a:t>
            </a:r>
            <a:endParaRPr lang="es-MX" sz="1600" dirty="0">
              <a:solidFill>
                <a:schemeClr val="tx1"/>
              </a:solidFill>
            </a:endParaRPr>
          </a:p>
          <a:p>
            <a:pPr marL="0" indent="0"/>
            <a:r>
              <a:rPr lang="es-MX" sz="1600" dirty="0">
                <a:solidFill>
                  <a:schemeClr val="tx1"/>
                </a:solidFill>
              </a:rPr>
              <a:t>       </a:t>
            </a:r>
            <a:r>
              <a:rPr lang="es-MX" sz="1600" dirty="0" err="1">
                <a:solidFill>
                  <a:schemeClr val="tx1"/>
                </a:solidFill>
              </a:rPr>
              <a:t>add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them</a:t>
            </a:r>
            <a:r>
              <a:rPr lang="es-MX" sz="1600" dirty="0">
                <a:solidFill>
                  <a:schemeClr val="tx1"/>
                </a:solidFill>
              </a:rPr>
              <a:t> </a:t>
            </a:r>
            <a:r>
              <a:rPr lang="es-MX" sz="1600" dirty="0" err="1">
                <a:solidFill>
                  <a:schemeClr val="tx1"/>
                </a:solidFill>
              </a:rPr>
              <a:t>together</a:t>
            </a:r>
            <a:r>
              <a:rPr lang="es-MX" sz="1600" dirty="0">
                <a:solidFill>
                  <a:schemeClr val="tx1"/>
                </a:solidFill>
              </a:rPr>
              <a:t>.</a:t>
            </a:r>
            <a:endParaRPr lang="es-CO" sz="16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D9ACE9-C07C-8EC3-35F9-9E3A7353CF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455082-48AB-4AE7-9394-121B55A78183}" type="datetime1">
              <a:rPr lang="de-DE" smtClean="0"/>
              <a:t>13.10.2022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24CF96-C777-B39B-3695-279074375C1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 dirty="0"/>
              <a:t>Evert Andrés Buzón Badillo, </a:t>
            </a:r>
            <a:r>
              <a:rPr lang="en-US" dirty="0"/>
              <a:t>Theoretical Study of Stratified Photon Mapping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88F456-F9A9-47A9-214B-6F1AA8A7668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A2DA2AC-E7EE-4440-A9FC-EA69DD8DEDDD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39DFA50-5D5D-7E65-91E8-4867BA2AB3FF}"/>
                  </a:ext>
                </a:extLst>
              </p:cNvPr>
              <p:cNvSpPr txBox="1"/>
              <p:nvPr/>
            </p:nvSpPr>
            <p:spPr>
              <a:xfrm>
                <a:off x="395536" y="2293386"/>
                <a:ext cx="7650633" cy="9800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Î</m:t>
                          </m:r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Î</m:t>
                              </m:r>
                            </m:e>
                            <m:sub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s-CO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i="1" smtClean="0">
                          <a:latin typeface="Cambria Math" panose="02040503050406030204" pitchFamily="18" charset="0"/>
                        </a:rPr>
                        <m:t>𝑃𝐷</m:t>
                      </m:r>
                      <m:d>
                        <m:d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f>
                        <m:fPr>
                          <m:ctrlPr>
                            <a:rPr lang="es-CO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lit/>
                                    </m:r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−10</m:t>
                                  </m:r>
                                  <m:func>
                                    <m:func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CO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+10</m:t>
                                  </m:r>
                                  <m:func>
                                    <m:func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s-CO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s-CO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</m:d>
                                    </m:e>
                                  </m:func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−9</m:t>
                                  </m:r>
                                </m:e>
                              </m:d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+9</m:t>
                              </m:r>
                              <m:sSup>
                                <m:sSupPr>
                                  <m:ctrl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s-CO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lit/>
                                    </m:rP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s-CO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es-CO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s-CO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lit/>
                                </m:rP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s-CO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439DFA50-5D5D-7E65-91E8-4867BA2AB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2293386"/>
                <a:ext cx="7650633" cy="9800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4296922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A6449C-598E-A3CA-B725-154D9BC33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Bibliography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F0E6BF-138D-0CBB-A1CD-FD4FA71E566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CO" sz="1100" dirty="0">
                <a:solidFill>
                  <a:schemeClr val="tx1"/>
                </a:solidFill>
              </a:rPr>
              <a:t>[1] García, R.: Estudio y desarrollo de técnicas interactivas de Iluminación Global / </a:t>
            </a:r>
            <a:r>
              <a:rPr lang="es-CO" sz="1100" dirty="0" err="1">
                <a:solidFill>
                  <a:schemeClr val="tx1"/>
                </a:solidFill>
              </a:rPr>
              <a:t>Study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development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interactive </a:t>
            </a:r>
            <a:r>
              <a:rPr lang="es-CO" sz="1100" dirty="0" err="1">
                <a:solidFill>
                  <a:schemeClr val="tx1"/>
                </a:solidFill>
              </a:rPr>
              <a:t>techniques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for</a:t>
            </a:r>
            <a:r>
              <a:rPr lang="es-CO" sz="1100" dirty="0">
                <a:solidFill>
                  <a:schemeClr val="tx1"/>
                </a:solidFill>
              </a:rPr>
              <a:t> global </a:t>
            </a:r>
            <a:r>
              <a:rPr lang="es-CO" sz="1100" dirty="0" err="1">
                <a:solidFill>
                  <a:schemeClr val="tx1"/>
                </a:solidFill>
              </a:rPr>
              <a:t>illuminationl</a:t>
            </a:r>
            <a:r>
              <a:rPr lang="es-CO" sz="1100" dirty="0">
                <a:solidFill>
                  <a:schemeClr val="tx1"/>
                </a:solidFill>
              </a:rPr>
              <a:t>. Universidad de Granada 2009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[2] </a:t>
            </a:r>
            <a:r>
              <a:rPr lang="sv-SE" sz="1100" dirty="0">
                <a:solidFill>
                  <a:schemeClr val="tx1"/>
                </a:solidFill>
              </a:rPr>
              <a:t>García, R. ; Urena, C. ; Sbert, M.: </a:t>
            </a:r>
            <a:r>
              <a:rPr lang="es-CO" sz="1100" dirty="0" err="1">
                <a:solidFill>
                  <a:schemeClr val="tx1"/>
                </a:solidFill>
              </a:rPr>
              <a:t>Describing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Solution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an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Unreported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Intrinsic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Bias</a:t>
            </a:r>
            <a:r>
              <a:rPr lang="es-CO" sz="1100" dirty="0">
                <a:solidFill>
                  <a:schemeClr val="tx1"/>
                </a:solidFill>
              </a:rPr>
              <a:t> in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Density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Estimation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with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Constant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Kernel</a:t>
            </a:r>
            <a:r>
              <a:rPr lang="es-CO" sz="1100" dirty="0">
                <a:solidFill>
                  <a:schemeClr val="tx1"/>
                </a:solidFill>
              </a:rPr>
              <a:t>.</a:t>
            </a:r>
            <a:r>
              <a:rPr lang="de-DE" sz="1100" dirty="0">
                <a:solidFill>
                  <a:schemeClr val="tx1"/>
                </a:solidFill>
              </a:rPr>
              <a:t> . Computer Graphics Forum 31 Nr 1, 2012, pp. 33-41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[3] </a:t>
            </a:r>
            <a:r>
              <a:rPr lang="sv-SE" sz="1100" dirty="0">
                <a:solidFill>
                  <a:schemeClr val="tx1"/>
                </a:solidFill>
              </a:rPr>
              <a:t>García, R. ; Urena, C. ; Sbert, M. ; Poch, J.:</a:t>
            </a:r>
            <a:r>
              <a:rPr lang="es-CO" sz="1100" dirty="0" err="1">
                <a:solidFill>
                  <a:schemeClr val="tx1"/>
                </a:solidFill>
              </a:rPr>
              <a:t>Overestimation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underestimation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biases</a:t>
            </a:r>
            <a:r>
              <a:rPr lang="es-CO" sz="1100" dirty="0">
                <a:solidFill>
                  <a:schemeClr val="tx1"/>
                </a:solidFill>
              </a:rPr>
              <a:t> in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with</a:t>
            </a:r>
            <a:r>
              <a:rPr lang="es-CO" sz="1100" dirty="0">
                <a:solidFill>
                  <a:schemeClr val="tx1"/>
                </a:solidFill>
              </a:rPr>
              <a:t> non-</a:t>
            </a:r>
            <a:r>
              <a:rPr lang="es-CO" sz="1100" dirty="0" err="1">
                <a:solidFill>
                  <a:schemeClr val="tx1"/>
                </a:solidFill>
              </a:rPr>
              <a:t>constant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kernels</a:t>
            </a:r>
            <a:r>
              <a:rPr lang="es-CO" sz="1100" dirty="0">
                <a:solidFill>
                  <a:schemeClr val="tx1"/>
                </a:solidFill>
              </a:rPr>
              <a:t>.</a:t>
            </a:r>
            <a:r>
              <a:rPr lang="en-US" sz="1100" dirty="0">
                <a:solidFill>
                  <a:schemeClr val="tx1"/>
                </a:solidFill>
              </a:rPr>
              <a:t> IEEE Transactions on Visualization and Computer Graphics 20, Nr.10, 2014, pp. 1441-1450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[4] Gan, </a:t>
            </a:r>
            <a:r>
              <a:rPr lang="es-CO" sz="1100" dirty="0" err="1">
                <a:solidFill>
                  <a:schemeClr val="tx1"/>
                </a:solidFill>
              </a:rPr>
              <a:t>Zhiming</a:t>
            </a:r>
            <a:r>
              <a:rPr lang="es-CO" sz="1100" dirty="0">
                <a:solidFill>
                  <a:schemeClr val="tx1"/>
                </a:solidFill>
              </a:rPr>
              <a:t>: </a:t>
            </a:r>
            <a:r>
              <a:rPr lang="es-CO" sz="1100" dirty="0" err="1">
                <a:solidFill>
                  <a:schemeClr val="tx1"/>
                </a:solidFill>
              </a:rPr>
              <a:t>Variance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density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estimation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LudwigMaximilians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Universität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Munich</a:t>
            </a:r>
            <a:r>
              <a:rPr lang="es-CO" sz="1100" dirty="0">
                <a:solidFill>
                  <a:schemeClr val="tx1"/>
                </a:solidFill>
              </a:rPr>
              <a:t>, 2018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[5] Hartmann, </a:t>
            </a:r>
            <a:r>
              <a:rPr lang="es-CO" sz="1100" dirty="0" err="1">
                <a:solidFill>
                  <a:schemeClr val="tx1"/>
                </a:solidFill>
              </a:rPr>
              <a:t>Kathrin</a:t>
            </a:r>
            <a:r>
              <a:rPr lang="es-CO" sz="1100" dirty="0">
                <a:solidFill>
                  <a:schemeClr val="tx1"/>
                </a:solidFill>
              </a:rPr>
              <a:t>: </a:t>
            </a:r>
            <a:r>
              <a:rPr lang="es-CO" sz="1100" dirty="0" err="1">
                <a:solidFill>
                  <a:schemeClr val="tx1"/>
                </a:solidFill>
              </a:rPr>
              <a:t>Theoretical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study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with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stratification</a:t>
            </a:r>
            <a:r>
              <a:rPr lang="es-CO" sz="1100" dirty="0">
                <a:solidFill>
                  <a:schemeClr val="tx1"/>
                </a:solidFill>
              </a:rPr>
              <a:t>. 2020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[6] </a:t>
            </a:r>
            <a:r>
              <a:rPr lang="es-CO" sz="1100" dirty="0" err="1">
                <a:solidFill>
                  <a:schemeClr val="tx1"/>
                </a:solidFill>
              </a:rPr>
              <a:t>Schaller</a:t>
            </a:r>
            <a:r>
              <a:rPr lang="es-CO" sz="1100" dirty="0">
                <a:solidFill>
                  <a:schemeClr val="tx1"/>
                </a:solidFill>
              </a:rPr>
              <a:t>, S.: </a:t>
            </a:r>
            <a:r>
              <a:rPr lang="es-CO" sz="1100" dirty="0" err="1">
                <a:solidFill>
                  <a:schemeClr val="tx1"/>
                </a:solidFill>
              </a:rPr>
              <a:t>Variance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with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Stratification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LudwigMaximilians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Universität</a:t>
            </a:r>
            <a:r>
              <a:rPr lang="es-CO" sz="1100" dirty="0">
                <a:solidFill>
                  <a:schemeClr val="tx1"/>
                </a:solidFill>
              </a:rPr>
              <a:t> 2021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[7] Alexander </a:t>
            </a:r>
            <a:r>
              <a:rPr lang="es-CO" sz="1100" dirty="0" err="1">
                <a:solidFill>
                  <a:schemeClr val="tx1"/>
                </a:solidFill>
              </a:rPr>
              <a:t>Altland</a:t>
            </a:r>
            <a:r>
              <a:rPr lang="es-CO" sz="1100" dirty="0">
                <a:solidFill>
                  <a:schemeClr val="tx1"/>
                </a:solidFill>
              </a:rPr>
              <a:t> ; Jan </a:t>
            </a:r>
            <a:r>
              <a:rPr lang="es-CO" sz="1100" dirty="0" err="1">
                <a:solidFill>
                  <a:schemeClr val="tx1"/>
                </a:solidFill>
              </a:rPr>
              <a:t>Von</a:t>
            </a:r>
            <a:r>
              <a:rPr lang="es-CO" sz="1100" dirty="0">
                <a:solidFill>
                  <a:schemeClr val="tx1"/>
                </a:solidFill>
              </a:rPr>
              <a:t> Delft: </a:t>
            </a:r>
            <a:r>
              <a:rPr lang="es-CO" sz="1100" dirty="0" err="1">
                <a:solidFill>
                  <a:schemeClr val="tx1"/>
                </a:solidFill>
              </a:rPr>
              <a:t>Mathematics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for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Physicists</a:t>
            </a:r>
            <a:r>
              <a:rPr lang="es-CO" sz="1100" dirty="0">
                <a:solidFill>
                  <a:schemeClr val="tx1"/>
                </a:solidFill>
              </a:rPr>
              <a:t>, </a:t>
            </a:r>
            <a:r>
              <a:rPr lang="es-CO" sz="1100" dirty="0" err="1">
                <a:solidFill>
                  <a:schemeClr val="tx1"/>
                </a:solidFill>
              </a:rPr>
              <a:t>Introductory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Concepts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Methods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n-US" sz="1100" dirty="0">
                <a:solidFill>
                  <a:schemeClr val="tx1"/>
                </a:solidFill>
              </a:rPr>
              <a:t>Cambridge University Press, 2019, ISBN: 9781108471220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</a:p>
          <a:p>
            <a:r>
              <a:rPr lang="es-CO" sz="1100" dirty="0">
                <a:solidFill>
                  <a:schemeClr val="tx1"/>
                </a:solidFill>
              </a:rPr>
              <a:t>[8] Matt Pharr ; </a:t>
            </a:r>
            <a:r>
              <a:rPr lang="es-CO" sz="1100" dirty="0" err="1">
                <a:solidFill>
                  <a:schemeClr val="tx1"/>
                </a:solidFill>
              </a:rPr>
              <a:t>Wenzel</a:t>
            </a:r>
            <a:r>
              <a:rPr lang="es-CO" sz="1100" dirty="0">
                <a:solidFill>
                  <a:schemeClr val="tx1"/>
                </a:solidFill>
              </a:rPr>
              <a:t> Jakob ; Greg Humphreys: </a:t>
            </a:r>
            <a:r>
              <a:rPr lang="es-CO" sz="1100" dirty="0" err="1">
                <a:solidFill>
                  <a:schemeClr val="tx1"/>
                </a:solidFill>
              </a:rPr>
              <a:t>Physically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Based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Rendering:From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Theory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To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Implementation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de-DE" sz="1100" dirty="0">
                <a:solidFill>
                  <a:schemeClr val="tx1"/>
                </a:solidFill>
              </a:rPr>
              <a:t>Morgan Kaufmann, 2016, ISBN: 9780128006450</a:t>
            </a:r>
          </a:p>
          <a:p>
            <a:r>
              <a:rPr lang="es-CO" sz="1100" dirty="0">
                <a:solidFill>
                  <a:schemeClr val="tx1"/>
                </a:solidFill>
              </a:rPr>
              <a:t>[9] Mohammad </a:t>
            </a:r>
            <a:r>
              <a:rPr lang="es-CO" sz="1100" dirty="0" err="1">
                <a:solidFill>
                  <a:schemeClr val="tx1"/>
                </a:solidFill>
              </a:rPr>
              <a:t>Ahsanullah</a:t>
            </a:r>
            <a:r>
              <a:rPr lang="es-CO" sz="1100" dirty="0">
                <a:solidFill>
                  <a:schemeClr val="tx1"/>
                </a:solidFill>
              </a:rPr>
              <a:t> ; Valery B </a:t>
            </a:r>
            <a:r>
              <a:rPr lang="es-CO" sz="1100" dirty="0" err="1">
                <a:solidFill>
                  <a:schemeClr val="tx1"/>
                </a:solidFill>
              </a:rPr>
              <a:t>Nevzorov</a:t>
            </a:r>
            <a:r>
              <a:rPr lang="es-CO" sz="1100" dirty="0">
                <a:solidFill>
                  <a:schemeClr val="tx1"/>
                </a:solidFill>
              </a:rPr>
              <a:t> ; Mohammad </a:t>
            </a:r>
            <a:r>
              <a:rPr lang="es-CO" sz="1100" dirty="0" err="1">
                <a:solidFill>
                  <a:schemeClr val="tx1"/>
                </a:solidFill>
              </a:rPr>
              <a:t>Shakil</a:t>
            </a:r>
            <a:r>
              <a:rPr lang="es-CO" sz="1100" dirty="0">
                <a:solidFill>
                  <a:schemeClr val="tx1"/>
                </a:solidFill>
              </a:rPr>
              <a:t>: </a:t>
            </a:r>
            <a:r>
              <a:rPr lang="es-CO" sz="1100" dirty="0" err="1">
                <a:solidFill>
                  <a:schemeClr val="tx1"/>
                </a:solidFill>
              </a:rPr>
              <a:t>An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Introduction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to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Order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Statistics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n-US" sz="1100" dirty="0">
                <a:solidFill>
                  <a:schemeClr val="tx1"/>
                </a:solidFill>
              </a:rPr>
              <a:t>Atlantis Press, 2013, </a:t>
            </a:r>
          </a:p>
          <a:p>
            <a:r>
              <a:rPr lang="en-US" sz="1100" dirty="0">
                <a:solidFill>
                  <a:schemeClr val="tx1"/>
                </a:solidFill>
              </a:rPr>
              <a:t>           ISBN: 978-94-6239-048-5</a:t>
            </a:r>
          </a:p>
          <a:p>
            <a:r>
              <a:rPr lang="es-CO" sz="1100" dirty="0">
                <a:solidFill>
                  <a:schemeClr val="tx1"/>
                </a:solidFill>
              </a:rPr>
              <a:t>[10] Arthur, Mark K.: Point </a:t>
            </a:r>
            <a:r>
              <a:rPr lang="es-CO" sz="1100" dirty="0" err="1">
                <a:solidFill>
                  <a:schemeClr val="tx1"/>
                </a:solidFill>
              </a:rPr>
              <a:t>Picking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Distributing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the</a:t>
            </a:r>
            <a:r>
              <a:rPr lang="es-CO" sz="1100" dirty="0">
                <a:solidFill>
                  <a:schemeClr val="tx1"/>
                </a:solidFill>
              </a:rPr>
              <a:t> Disc and </a:t>
            </a:r>
            <a:r>
              <a:rPr lang="es-CO" sz="1100" dirty="0" err="1">
                <a:solidFill>
                  <a:schemeClr val="tx1"/>
                </a:solidFill>
              </a:rPr>
              <a:t>Sphere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Army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Research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Laboratory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>
                <a:solidFill>
                  <a:schemeClr val="tx1"/>
                </a:solidFill>
                <a:hlinkClick r:id="rId2"/>
              </a:rPr>
              <a:t>https://apps.dtic.mil/dtic/tr/fulltext/u2/a626479.pdf 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[11] Jensen, Henrik W.: Global </a:t>
            </a:r>
            <a:r>
              <a:rPr lang="es-CO" sz="1100" dirty="0" err="1">
                <a:solidFill>
                  <a:schemeClr val="tx1"/>
                </a:solidFill>
              </a:rPr>
              <a:t>Illumination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using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Maps</a:t>
            </a:r>
            <a:r>
              <a:rPr lang="es-CO" sz="1100" dirty="0">
                <a:solidFill>
                  <a:schemeClr val="tx1"/>
                </a:solidFill>
              </a:rPr>
              <a:t>. RenderingTechniques’96, Springer-</a:t>
            </a:r>
            <a:r>
              <a:rPr lang="es-CO" sz="1100" dirty="0" err="1">
                <a:solidFill>
                  <a:schemeClr val="tx1"/>
                </a:solidFill>
              </a:rPr>
              <a:t>Verlag</a:t>
            </a:r>
            <a:r>
              <a:rPr lang="es-CO" sz="1100" dirty="0">
                <a:solidFill>
                  <a:schemeClr val="tx1"/>
                </a:solidFill>
              </a:rPr>
              <a:t>, 199, pp. 21-30 </a:t>
            </a:r>
            <a:r>
              <a:rPr lang="es-CO" sz="1100" dirty="0">
                <a:solidFill>
                  <a:schemeClr val="tx1"/>
                </a:solidFill>
                <a:hlinkClick r:id="rId3"/>
              </a:rPr>
              <a:t>http://graphics.ucsd.edu/~henrik/papers/photon_map/global_illumination_ using_photon_maps_egwr96.pdf </a:t>
            </a:r>
            <a:endParaRPr lang="es-CO" sz="1100" dirty="0">
              <a:solidFill>
                <a:schemeClr val="tx1"/>
              </a:solidFill>
            </a:endParaRPr>
          </a:p>
          <a:p>
            <a:endParaRPr lang="es-CO" sz="1100" dirty="0">
              <a:solidFill>
                <a:schemeClr val="tx1"/>
              </a:solidFill>
            </a:endParaRP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06B5D8-29EC-AD15-1914-FE43068E0A6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55082-48AB-4AE7-9394-121B55A78183}" type="datetime1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13.10.2022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MU CompatilFact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A3FEF4-B121-9A3D-238B-B17315B64D0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Evert Andrés Buzón Badillo,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Theoretical Study of Stratified </a:t>
            </a:r>
            <a:r>
              <a:rPr lang="en-US" dirty="0">
                <a:solidFill>
                  <a:srgbClr val="000000">
                    <a:tint val="75000"/>
                  </a:srgbClr>
                </a:solidFill>
                <a:latin typeface="LMU CompatilFact"/>
              </a:rPr>
              <a:t>P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hoton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000000">
                    <a:tint val="75000"/>
                  </a:srgbClr>
                </a:solidFill>
                <a:latin typeface="LMU CompatilFact"/>
              </a:rPr>
              <a:t>M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apping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40EDE-D61C-E428-10E7-1B1F850975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2DA2AC-E7EE-4440-A9FC-EA69DD8DED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MU CompatilFac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049464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287249-C727-248F-D982-DFEA6292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Bibliography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88A24-90A2-F651-8485-74238595822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[12 ]Jensen, Henrik W.: </a:t>
            </a:r>
            <a:r>
              <a:rPr lang="es-CO" sz="1100" dirty="0" err="1">
                <a:solidFill>
                  <a:schemeClr val="tx1"/>
                </a:solidFill>
              </a:rPr>
              <a:t>The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</a:t>
            </a:r>
            <a:r>
              <a:rPr lang="es-CO" sz="1100" dirty="0">
                <a:solidFill>
                  <a:schemeClr val="tx1"/>
                </a:solidFill>
              </a:rPr>
              <a:t> in Global </a:t>
            </a:r>
            <a:r>
              <a:rPr lang="es-CO" sz="1100" dirty="0" err="1">
                <a:solidFill>
                  <a:schemeClr val="tx1"/>
                </a:solidFill>
              </a:rPr>
              <a:t>Illumination</a:t>
            </a:r>
            <a:r>
              <a:rPr lang="es-CO" sz="1100" dirty="0">
                <a:solidFill>
                  <a:schemeClr val="tx1"/>
                </a:solidFill>
              </a:rPr>
              <a:t>, </a:t>
            </a:r>
            <a:r>
              <a:rPr lang="es-CO" sz="1100" dirty="0" err="1">
                <a:solidFill>
                  <a:schemeClr val="tx1"/>
                </a:solidFill>
              </a:rPr>
              <a:t>Ph.D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dissertation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Technical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University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Denmark</a:t>
            </a:r>
            <a:r>
              <a:rPr lang="es-CO" sz="1100" dirty="0">
                <a:solidFill>
                  <a:schemeClr val="tx1"/>
                </a:solidFill>
              </a:rPr>
              <a:t>: </a:t>
            </a:r>
            <a:r>
              <a:rPr lang="es-CO" sz="1100" dirty="0" err="1">
                <a:solidFill>
                  <a:schemeClr val="tx1"/>
                </a:solidFill>
              </a:rPr>
              <a:t>Department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of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Planning</a:t>
            </a:r>
            <a:r>
              <a:rPr lang="es-CO" sz="1100" dirty="0">
                <a:solidFill>
                  <a:schemeClr val="tx1"/>
                </a:solidFill>
              </a:rPr>
              <a:t>: </a:t>
            </a:r>
            <a:r>
              <a:rPr lang="es-CO" sz="1100" dirty="0" err="1">
                <a:solidFill>
                  <a:schemeClr val="tx1"/>
                </a:solidFill>
              </a:rPr>
              <a:t>Graphical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Communication</a:t>
            </a:r>
            <a:r>
              <a:rPr lang="es-CO" sz="1100" dirty="0">
                <a:solidFill>
                  <a:schemeClr val="tx1"/>
                </a:solidFill>
              </a:rPr>
              <a:t>, 1996</a:t>
            </a:r>
          </a:p>
          <a:p>
            <a:r>
              <a:rPr lang="es-CO" sz="1100" dirty="0">
                <a:solidFill>
                  <a:schemeClr val="tx1"/>
                </a:solidFill>
              </a:rPr>
              <a:t>[13] Jensen, Henrik W.: A </a:t>
            </a:r>
            <a:r>
              <a:rPr lang="es-CO" sz="1100" dirty="0" err="1">
                <a:solidFill>
                  <a:schemeClr val="tx1"/>
                </a:solidFill>
              </a:rPr>
              <a:t>Practical</a:t>
            </a:r>
            <a:r>
              <a:rPr lang="es-CO" sz="1100" dirty="0">
                <a:solidFill>
                  <a:schemeClr val="tx1"/>
                </a:solidFill>
              </a:rPr>
              <a:t> Guide </a:t>
            </a:r>
            <a:r>
              <a:rPr lang="es-CO" sz="1100" dirty="0" err="1">
                <a:solidFill>
                  <a:schemeClr val="tx1"/>
                </a:solidFill>
              </a:rPr>
              <a:t>to</a:t>
            </a:r>
            <a:r>
              <a:rPr lang="es-CO" sz="1100" dirty="0">
                <a:solidFill>
                  <a:schemeClr val="tx1"/>
                </a:solidFill>
              </a:rPr>
              <a:t> Global </a:t>
            </a:r>
            <a:r>
              <a:rPr lang="es-CO" sz="1100" dirty="0" err="1">
                <a:solidFill>
                  <a:schemeClr val="tx1"/>
                </a:solidFill>
              </a:rPr>
              <a:t>Illumination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using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Photon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Mapping</a:t>
            </a:r>
            <a:r>
              <a:rPr lang="es-CO" sz="1100" dirty="0">
                <a:solidFill>
                  <a:schemeClr val="tx1"/>
                </a:solidFill>
              </a:rPr>
              <a:t>. 2002 </a:t>
            </a:r>
          </a:p>
          <a:p>
            <a:r>
              <a:rPr lang="es-CO" sz="1100" dirty="0">
                <a:solidFill>
                  <a:schemeClr val="tx1"/>
                </a:solidFill>
              </a:rPr>
              <a:t>           </a:t>
            </a:r>
            <a:r>
              <a:rPr lang="es-CO" sz="1100" dirty="0">
                <a:solidFill>
                  <a:schemeClr val="tx1"/>
                </a:solidFill>
                <a:hlinkClick r:id="rId2"/>
              </a:rPr>
              <a:t>https://maverick.inria.fr/Members/Cyril.Soler/DEA/IlluminationGlobale/Papers/HWJ_PhotonMapping_Course.pdf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[14] Mike </a:t>
            </a:r>
            <a:r>
              <a:rPr lang="en-US" sz="1100" dirty="0" err="1">
                <a:solidFill>
                  <a:schemeClr val="tx1"/>
                </a:solidFill>
              </a:rPr>
              <a:t>Cammarano</a:t>
            </a:r>
            <a:r>
              <a:rPr lang="en-US" sz="1100" dirty="0">
                <a:solidFill>
                  <a:schemeClr val="tx1"/>
                </a:solidFill>
              </a:rPr>
              <a:t> ; Henrik </a:t>
            </a:r>
            <a:r>
              <a:rPr lang="en-US" sz="1100" dirty="0" err="1">
                <a:solidFill>
                  <a:schemeClr val="tx1"/>
                </a:solidFill>
              </a:rPr>
              <a:t>Wann</a:t>
            </a:r>
            <a:r>
              <a:rPr lang="en-US" sz="1100" dirty="0">
                <a:solidFill>
                  <a:schemeClr val="tx1"/>
                </a:solidFill>
              </a:rPr>
              <a:t> Jensen: Time Dependent Photon Mapping. EGRW ’02: Proceedings of the 13</a:t>
            </a:r>
            <a:r>
              <a:rPr lang="en-US" sz="1100" baseline="30000" dirty="0">
                <a:solidFill>
                  <a:schemeClr val="tx1"/>
                </a:solidFill>
              </a:rPr>
              <a:t>th</a:t>
            </a:r>
            <a:endParaRPr lang="en-US" sz="1100" dirty="0">
              <a:solidFill>
                <a:schemeClr val="tx1"/>
              </a:solidFill>
            </a:endParaRPr>
          </a:p>
          <a:p>
            <a:r>
              <a:rPr lang="en-US" sz="1100" dirty="0">
                <a:solidFill>
                  <a:schemeClr val="tx1"/>
                </a:solidFill>
              </a:rPr>
              <a:t>           </a:t>
            </a:r>
            <a:r>
              <a:rPr lang="en-US" sz="1100" dirty="0" err="1">
                <a:solidFill>
                  <a:schemeClr val="tx1"/>
                </a:solidFill>
              </a:rPr>
              <a:t>Eurographics</a:t>
            </a:r>
            <a:r>
              <a:rPr lang="en-US" sz="1100" dirty="0">
                <a:solidFill>
                  <a:schemeClr val="tx1"/>
                </a:solidFill>
              </a:rPr>
              <a:t> workshop on Rendering, 2002, pp. 135-144 </a:t>
            </a:r>
            <a:r>
              <a:rPr lang="en-US" sz="1100" dirty="0">
                <a:solidFill>
                  <a:schemeClr val="tx1"/>
                </a:solidFill>
                <a:hlinkClick r:id="rId3"/>
              </a:rPr>
              <a:t>http://graphics.ucsd.edu/~henrik/papers/time_photon/time_photon.pdf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[15] </a:t>
            </a:r>
            <a:r>
              <a:rPr lang="es-CO" sz="1100" dirty="0" err="1">
                <a:solidFill>
                  <a:schemeClr val="tx1"/>
                </a:solidFill>
              </a:rPr>
              <a:t>Boning</a:t>
            </a:r>
            <a:r>
              <a:rPr lang="es-CO" sz="1100" dirty="0">
                <a:solidFill>
                  <a:schemeClr val="tx1"/>
                </a:solidFill>
              </a:rPr>
              <a:t> Liu ; Yan Zhao ; </a:t>
            </a:r>
            <a:r>
              <a:rPr lang="es-CO" sz="1100" dirty="0" err="1">
                <a:solidFill>
                  <a:schemeClr val="tx1"/>
                </a:solidFill>
              </a:rPr>
              <a:t>Xiaomeng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Jiang</a:t>
            </a:r>
            <a:r>
              <a:rPr lang="es-CO" sz="1100" dirty="0">
                <a:solidFill>
                  <a:schemeClr val="tx1"/>
                </a:solidFill>
              </a:rPr>
              <a:t> ; </a:t>
            </a:r>
            <a:r>
              <a:rPr lang="es-CO" sz="1100" dirty="0" err="1">
                <a:solidFill>
                  <a:schemeClr val="tx1"/>
                </a:solidFill>
              </a:rPr>
              <a:t>Shigang</a:t>
            </a:r>
            <a:r>
              <a:rPr lang="es-CO" sz="1100" dirty="0">
                <a:solidFill>
                  <a:schemeClr val="tx1"/>
                </a:solidFill>
              </a:rPr>
              <a:t> Wang ; </a:t>
            </a:r>
            <a:r>
              <a:rPr lang="es-CO" sz="1100" dirty="0" err="1">
                <a:solidFill>
                  <a:schemeClr val="tx1"/>
                </a:solidFill>
              </a:rPr>
              <a:t>Jian</a:t>
            </a:r>
            <a:r>
              <a:rPr lang="es-CO" sz="1100" dirty="0">
                <a:solidFill>
                  <a:schemeClr val="tx1"/>
                </a:solidFill>
              </a:rPr>
              <a:t> Wei: 4-D </a:t>
            </a:r>
            <a:r>
              <a:rPr lang="es-CO" sz="1100" dirty="0" err="1">
                <a:solidFill>
                  <a:schemeClr val="tx1"/>
                </a:solidFill>
              </a:rPr>
              <a:t>Epanechnikov</a:t>
            </a:r>
            <a:r>
              <a:rPr lang="es-CO" sz="1100" dirty="0">
                <a:solidFill>
                  <a:schemeClr val="tx1"/>
                </a:solidFill>
              </a:rPr>
              <a:t> Mixture </a:t>
            </a:r>
            <a:r>
              <a:rPr lang="es-CO" sz="1100" dirty="0" err="1">
                <a:solidFill>
                  <a:schemeClr val="tx1"/>
                </a:solidFill>
              </a:rPr>
              <a:t>Regression</a:t>
            </a:r>
            <a:r>
              <a:rPr lang="es-CO" sz="1100" dirty="0">
                <a:solidFill>
                  <a:schemeClr val="tx1"/>
                </a:solidFill>
              </a:rPr>
              <a:t> in Light Field </a:t>
            </a:r>
            <a:r>
              <a:rPr lang="es-CO" sz="1100" dirty="0" err="1">
                <a:solidFill>
                  <a:schemeClr val="tx1"/>
                </a:solidFill>
              </a:rPr>
              <a:t>Image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Compression</a:t>
            </a:r>
            <a:r>
              <a:rPr lang="es-CO" sz="1100" dirty="0">
                <a:solidFill>
                  <a:schemeClr val="tx1"/>
                </a:solidFill>
              </a:rPr>
              <a:t> . </a:t>
            </a:r>
          </a:p>
          <a:p>
            <a:r>
              <a:rPr lang="es-CO" sz="1100" dirty="0">
                <a:solidFill>
                  <a:schemeClr val="tx1"/>
                </a:solidFill>
              </a:rPr>
              <a:t>            IEEE </a:t>
            </a:r>
            <a:r>
              <a:rPr lang="es-CO" sz="1100" dirty="0" err="1">
                <a:solidFill>
                  <a:schemeClr val="tx1"/>
                </a:solidFill>
              </a:rPr>
              <a:t>Transactions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Circuits</a:t>
            </a:r>
            <a:r>
              <a:rPr lang="es-CO" sz="1100" dirty="0">
                <a:solidFill>
                  <a:schemeClr val="tx1"/>
                </a:solidFill>
              </a:rPr>
              <a:t> and </a:t>
            </a:r>
            <a:r>
              <a:rPr lang="es-CO" sz="1100" dirty="0" err="1">
                <a:solidFill>
                  <a:schemeClr val="tx1"/>
                </a:solidFill>
              </a:rPr>
              <a:t>Systems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for</a:t>
            </a:r>
            <a:r>
              <a:rPr lang="es-CO" sz="1100" dirty="0">
                <a:solidFill>
                  <a:schemeClr val="tx1"/>
                </a:solidFill>
              </a:rPr>
              <a:t> Video </a:t>
            </a:r>
            <a:r>
              <a:rPr lang="es-CO" sz="1100" dirty="0" err="1">
                <a:solidFill>
                  <a:schemeClr val="tx1"/>
                </a:solidFill>
              </a:rPr>
              <a:t>Technology</a:t>
            </a:r>
            <a:r>
              <a:rPr lang="es-CO" sz="1100" dirty="0">
                <a:solidFill>
                  <a:schemeClr val="tx1"/>
                </a:solidFill>
              </a:rPr>
              <a:t>, vol. 32, </a:t>
            </a:r>
            <a:r>
              <a:rPr lang="es-CO" sz="1100" dirty="0" err="1">
                <a:solidFill>
                  <a:schemeClr val="tx1"/>
                </a:solidFill>
              </a:rPr>
              <a:t>Nr</a:t>
            </a:r>
            <a:r>
              <a:rPr lang="es-CO" sz="1100" dirty="0">
                <a:solidFill>
                  <a:schemeClr val="tx1"/>
                </a:solidFill>
              </a:rPr>
              <a:t>. 6, 2021, pp. 3906-3922</a:t>
            </a:r>
          </a:p>
          <a:p>
            <a:r>
              <a:rPr lang="es-CO" sz="1100" dirty="0">
                <a:solidFill>
                  <a:schemeClr val="tx1"/>
                </a:solidFill>
              </a:rPr>
              <a:t>            </a:t>
            </a:r>
            <a:r>
              <a:rPr lang="es-CO" sz="1100" dirty="0">
                <a:solidFill>
                  <a:schemeClr val="tx1"/>
                </a:solidFill>
                <a:hlinkClick r:id="rId4"/>
              </a:rPr>
              <a:t>https://ieeexplore.ieee.org/stamp/stamp.jsp?arnumber=9513313 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[16] </a:t>
            </a:r>
            <a:r>
              <a:rPr lang="en-US" sz="1100" dirty="0">
                <a:solidFill>
                  <a:schemeClr val="tx1"/>
                </a:solidFill>
              </a:rPr>
              <a:t>Chun-Meng Kang ; Lu Wang ; Yan-</a:t>
            </a:r>
            <a:r>
              <a:rPr lang="en-US" sz="1100" dirty="0" err="1">
                <a:solidFill>
                  <a:schemeClr val="tx1"/>
                </a:solidFill>
              </a:rPr>
              <a:t>ning</a:t>
            </a:r>
            <a:r>
              <a:rPr lang="en-US" sz="1100" dirty="0">
                <a:solidFill>
                  <a:schemeClr val="tx1"/>
                </a:solidFill>
              </a:rPr>
              <a:t> Xu ; Xiang-Xu Meng: A survey of photon mapping state-of-the-art research and future challenges.   Frontiers of Information Technology Electronic Engineering 17, 2016, pp. 185-199</a:t>
            </a:r>
            <a:endParaRPr lang="es-CO" sz="1100" dirty="0">
              <a:solidFill>
                <a:schemeClr val="tx1"/>
              </a:solidFill>
            </a:endParaRPr>
          </a:p>
          <a:p>
            <a:r>
              <a:rPr lang="es-CO" sz="1100" dirty="0">
                <a:solidFill>
                  <a:schemeClr val="tx1"/>
                </a:solidFill>
              </a:rPr>
              <a:t>[17] P. Shirley ; B. Wade ; P. Hubbard ; D. </a:t>
            </a:r>
            <a:r>
              <a:rPr lang="es-CO" sz="1100" dirty="0" err="1">
                <a:solidFill>
                  <a:schemeClr val="tx1"/>
                </a:solidFill>
              </a:rPr>
              <a:t>Zadeski</a:t>
            </a:r>
            <a:r>
              <a:rPr lang="es-CO" sz="1100" dirty="0">
                <a:solidFill>
                  <a:schemeClr val="tx1"/>
                </a:solidFill>
              </a:rPr>
              <a:t> ; B. Walter ; </a:t>
            </a:r>
            <a:r>
              <a:rPr lang="es-CO" sz="1100" dirty="0" err="1">
                <a:solidFill>
                  <a:schemeClr val="tx1"/>
                </a:solidFill>
              </a:rPr>
              <a:t>D.Greenberg</a:t>
            </a:r>
            <a:r>
              <a:rPr lang="es-CO" sz="1100" dirty="0">
                <a:solidFill>
                  <a:schemeClr val="tx1"/>
                </a:solidFill>
              </a:rPr>
              <a:t>: Global </a:t>
            </a:r>
            <a:r>
              <a:rPr lang="es-CO" sz="1100" dirty="0" err="1">
                <a:solidFill>
                  <a:schemeClr val="tx1"/>
                </a:solidFill>
              </a:rPr>
              <a:t>illumination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via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density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estimation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Rendering</a:t>
            </a:r>
            <a:r>
              <a:rPr lang="es-CO" sz="1100" dirty="0">
                <a:solidFill>
                  <a:schemeClr val="tx1"/>
                </a:solidFill>
              </a:rPr>
              <a:t> Techniques’95,</a:t>
            </a:r>
          </a:p>
          <a:p>
            <a:r>
              <a:rPr lang="es-CO" sz="1100" dirty="0">
                <a:solidFill>
                  <a:schemeClr val="tx1"/>
                </a:solidFill>
              </a:rPr>
              <a:t>            Springer-</a:t>
            </a:r>
            <a:r>
              <a:rPr lang="es-CO" sz="1100" dirty="0" err="1">
                <a:solidFill>
                  <a:schemeClr val="tx1"/>
                </a:solidFill>
              </a:rPr>
              <a:t>Verlag</a:t>
            </a:r>
            <a:r>
              <a:rPr lang="es-CO" sz="1100" dirty="0">
                <a:solidFill>
                  <a:schemeClr val="tx1"/>
                </a:solidFill>
              </a:rPr>
              <a:t>, 1995, pp. 219-230</a:t>
            </a:r>
          </a:p>
          <a:p>
            <a:r>
              <a:rPr lang="es-CO" sz="1100" dirty="0">
                <a:solidFill>
                  <a:schemeClr val="tx1"/>
                </a:solidFill>
              </a:rPr>
              <a:t>[18] Walter, B. J.: </a:t>
            </a:r>
            <a:r>
              <a:rPr lang="es-CO" sz="1100" dirty="0" err="1">
                <a:solidFill>
                  <a:schemeClr val="tx1"/>
                </a:solidFill>
              </a:rPr>
              <a:t>Density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estimation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techniques</a:t>
            </a:r>
            <a:r>
              <a:rPr lang="es-CO" sz="1100" dirty="0">
                <a:solidFill>
                  <a:schemeClr val="tx1"/>
                </a:solidFill>
              </a:rPr>
              <a:t> </a:t>
            </a:r>
            <a:r>
              <a:rPr lang="es-CO" sz="1100" dirty="0" err="1">
                <a:solidFill>
                  <a:schemeClr val="tx1"/>
                </a:solidFill>
              </a:rPr>
              <a:t>for</a:t>
            </a:r>
            <a:r>
              <a:rPr lang="es-CO" sz="1100" dirty="0">
                <a:solidFill>
                  <a:schemeClr val="tx1"/>
                </a:solidFill>
              </a:rPr>
              <a:t> global </a:t>
            </a:r>
            <a:r>
              <a:rPr lang="es-CO" sz="1100" dirty="0" err="1">
                <a:solidFill>
                  <a:schemeClr val="tx1"/>
                </a:solidFill>
              </a:rPr>
              <a:t>illumination</a:t>
            </a:r>
            <a:r>
              <a:rPr lang="es-CO" sz="1100" dirty="0">
                <a:solidFill>
                  <a:schemeClr val="tx1"/>
                </a:solidFill>
              </a:rPr>
              <a:t>, </a:t>
            </a:r>
            <a:r>
              <a:rPr lang="es-CO" sz="1100" dirty="0" err="1">
                <a:solidFill>
                  <a:schemeClr val="tx1"/>
                </a:solidFill>
              </a:rPr>
              <a:t>Ph.D</a:t>
            </a:r>
            <a:r>
              <a:rPr lang="es-CO" sz="1100" dirty="0">
                <a:solidFill>
                  <a:schemeClr val="tx1"/>
                </a:solidFill>
              </a:rPr>
              <a:t>. </a:t>
            </a:r>
            <a:r>
              <a:rPr lang="es-CO" sz="1100" dirty="0" err="1">
                <a:solidFill>
                  <a:schemeClr val="tx1"/>
                </a:solidFill>
              </a:rPr>
              <a:t>dissertation</a:t>
            </a:r>
            <a:r>
              <a:rPr lang="es-CO" sz="1100" dirty="0">
                <a:solidFill>
                  <a:schemeClr val="tx1"/>
                </a:solidFill>
              </a:rPr>
              <a:t>. 1998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04464-32EF-3E5C-781E-F9FEA9B34E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455082-48AB-4AE7-9394-121B55A78183}" type="datetime1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13.10.2022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MU CompatilFact"/>
              <a:ea typeface="+mn-ea"/>
              <a:cs typeface="+mn-cs"/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431FB9-0C7C-414D-A0CC-B4578AA903C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Evert Andrés Buzón Badillo,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Theoretical Study of Stratified </a:t>
            </a:r>
            <a:r>
              <a:rPr lang="en-US" dirty="0">
                <a:solidFill>
                  <a:srgbClr val="000000">
                    <a:tint val="75000"/>
                  </a:srgbClr>
                </a:solidFill>
                <a:latin typeface="LMU CompatilFact"/>
              </a:rPr>
              <a:t>P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hoton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 </a:t>
            </a:r>
            <a:r>
              <a:rPr lang="en-US" dirty="0">
                <a:solidFill>
                  <a:srgbClr val="000000">
                    <a:tint val="75000"/>
                  </a:srgbClr>
                </a:solidFill>
                <a:latin typeface="LMU CompatilFact"/>
              </a:rPr>
              <a:t>M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apping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t> with Kernel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7E0792-5672-F3EE-D9C6-B460AC8374A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A2DA2AC-E7EE-4440-A9FC-EA69DD8DEDD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LMU CompatilFac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LMU CompatilFac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40148700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LMU_CD_2018">
  <a:themeElements>
    <a:clrScheme name="">
      <a:dk1>
        <a:srgbClr val="000000"/>
      </a:dk1>
      <a:lt1>
        <a:srgbClr val="FFFFFF"/>
      </a:lt1>
      <a:dk2>
        <a:srgbClr val="4C4C4C"/>
      </a:dk2>
      <a:lt2>
        <a:srgbClr val="808080"/>
      </a:lt2>
      <a:accent1>
        <a:srgbClr val="FFCC00"/>
      </a:accent1>
      <a:accent2>
        <a:srgbClr val="FF990F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8A0C"/>
      </a:accent6>
      <a:hlink>
        <a:srgbClr val="009900"/>
      </a:hlink>
      <a:folHlink>
        <a:srgbClr val="99CC00"/>
      </a:folHlink>
    </a:clrScheme>
    <a:fontScheme name="LMU">
      <a:majorFont>
        <a:latin typeface="LMU SabonNext Demi"/>
        <a:ea typeface=""/>
        <a:cs typeface=""/>
      </a:majorFont>
      <a:minorFont>
        <a:latin typeface="LMU CompatilFac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MU CompatilFact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MU CompatilFact" pitchFamily="2" charset="0"/>
          </a:defRPr>
        </a:defPPr>
      </a:lstStyle>
    </a:lnDef>
  </a:objectDefaults>
  <a:extraClrSchemeLst>
    <a:extraClrScheme>
      <a:clrScheme name="Praesentation_lmu_aktuel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entation_lmu_aktuel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entation_lmu_aktuel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entation_lmu_aktuel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entation_lmu_aktuel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aesentation_lmu_aktuel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aesentation_lmu_aktuell 13">
        <a:dk1>
          <a:srgbClr val="000000"/>
        </a:dk1>
        <a:lt1>
          <a:srgbClr val="FFFFFF"/>
        </a:lt1>
        <a:dk2>
          <a:srgbClr val="4C4C4C"/>
        </a:dk2>
        <a:lt2>
          <a:srgbClr val="808080"/>
        </a:lt2>
        <a:accent1>
          <a:srgbClr val="FFCC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00"/>
        </a:accent6>
        <a:hlink>
          <a:srgbClr val="0099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0-11-27-MNM-Hell.potx" id="{2C8A0CDF-8C5A-44CB-B964-02A305C4125B}" vid="{B8278143-B5FD-4D50-BE40-3882900DF236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2020-11-27-MNM-Hell</Template>
  <TotalTime>8410</TotalTime>
  <Words>2116</Words>
  <Application>Microsoft Office PowerPoint</Application>
  <PresentationFormat>Presentación en pantalla (16:9)</PresentationFormat>
  <Paragraphs>376</Paragraphs>
  <Slides>33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43" baseType="lpstr">
      <vt:lpstr>Arial</vt:lpstr>
      <vt:lpstr>Calibri</vt:lpstr>
      <vt:lpstr>Calibri Light</vt:lpstr>
      <vt:lpstr>Cambria Math</vt:lpstr>
      <vt:lpstr>LMU CompatilFact</vt:lpstr>
      <vt:lpstr>Times</vt:lpstr>
      <vt:lpstr>Wingdings</vt:lpstr>
      <vt:lpstr>LMU_CD_2018</vt:lpstr>
      <vt:lpstr>Diseño personalizado</vt:lpstr>
      <vt:lpstr>think-cell Folie</vt:lpstr>
      <vt:lpstr>Theoretical Study of Stratified Photon Mapping with Kernel </vt:lpstr>
      <vt:lpstr>Photon Mapping</vt:lpstr>
      <vt:lpstr>Irradiance estimation</vt:lpstr>
      <vt:lpstr>Over- and under- estimation biases</vt:lpstr>
      <vt:lpstr>Kernels</vt:lpstr>
      <vt:lpstr>Stratification</vt:lpstr>
      <vt:lpstr>Experiment</vt:lpstr>
      <vt:lpstr>Study of the biases</vt:lpstr>
      <vt:lpstr>Optimizations</vt:lpstr>
      <vt:lpstr>Optimizations</vt:lpstr>
      <vt:lpstr>Simulation 2D</vt:lpstr>
      <vt:lpstr>Simulation 3D</vt:lpstr>
      <vt:lpstr>Comparison 2D vs 3D</vt:lpstr>
      <vt:lpstr>Cornell Box</vt:lpstr>
      <vt:lpstr>Stratification strategies</vt:lpstr>
      <vt:lpstr>Simulation</vt:lpstr>
      <vt:lpstr>Simulation</vt:lpstr>
      <vt:lpstr>Conclusions and future work</vt:lpstr>
      <vt:lpstr>Presentación de PowerPoint</vt:lpstr>
      <vt:lpstr>Kernel normalization</vt:lpstr>
      <vt:lpstr>Theoretical study</vt:lpstr>
      <vt:lpstr>Theoretical study</vt:lpstr>
      <vt:lpstr>Theoretical study </vt:lpstr>
      <vt:lpstr>Theoretical study</vt:lpstr>
      <vt:lpstr>Theoretical study</vt:lpstr>
      <vt:lpstr>Example Epanechnikov kernel 2D</vt:lpstr>
      <vt:lpstr>Example Epanechnikov kernel 2D</vt:lpstr>
      <vt:lpstr>Example Epanechnikov kernel 2D</vt:lpstr>
      <vt:lpstr>Example Epanechnikov kernel 2D</vt:lpstr>
      <vt:lpstr>Example Epanechnikov kernel 3D</vt:lpstr>
      <vt:lpstr>Example Epanechnikov kernel 3D</vt:lpstr>
      <vt:lpstr>Bibliography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Theoretical study of stratified photon mapping with kernel</dc:title>
  <dc:creator>Evert Buzon Badillo</dc:creator>
  <cp:lastModifiedBy>Buzon Badillo, Evert</cp:lastModifiedBy>
  <cp:revision>25</cp:revision>
  <cp:lastPrinted>2015-10-21T13:20:21Z</cp:lastPrinted>
  <dcterms:created xsi:type="dcterms:W3CDTF">2022-07-23T20:00:03Z</dcterms:created>
  <dcterms:modified xsi:type="dcterms:W3CDTF">2022-10-13T11:47:00Z</dcterms:modified>
</cp:coreProperties>
</file>